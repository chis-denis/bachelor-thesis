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9" d="100"/>
          <a:sy n="109" d="100"/>
        </p:scale>
        <p:origin x="100"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3386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~45s. Good morning. My thesis is CalorieTrack, an AI-assisted mobile app that does three things in one place: it tracks nutrition, it lets you order food, and it helps restaurants verify complaint photos. My supervisor is Lect. PhD. Horea Bogdan Mureșan. I'll walk through the idea, how it's built, the problems I hit and how I solved them.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~40s. Part one — nutrition tracking. You record meals with a full macro breakdown: calories, protein, carbs, fat, fiber, sugar. The food data comes from the USDA official database, not user-submitted entries, so the numbers are objective and consistent.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~40s. Part two — food ordering. The key idea: ordering and logging are the SAME action. At checkout, the order is saved, the wallet is debited, and every item is logged as a meal — all in one atomic database transaction. If any step fails, the whole thing rolls back. You never re-enter what you ordered.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~40s. Part three — complaint verification. This one is for the business owner. When a customer sends a complaint photo, the app decides whether it's a genuine camera photo, an edited one, or AI-generated — so an owner can tell a real complaint from a faked or recycled picture.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~60s. PLAY THE VIDEO. This is the moment the idea started. I ordered food through a delivery app, and then had to open a separate calorie tracker and type the whole meal back in by hand — guessing the numbers. The tracker knew my goals but nothing about tonight's menu; the delivery app knew the menu but nothing about my day. The two never talk to each other. That gap is exactly what </a:t>
            </a:r>
            <a:r>
              <a:rPr dirty="0" err="1"/>
              <a:t>CalorieTrack</a:t>
            </a:r>
            <a:r>
              <a:rPr dirty="0"/>
              <a:t> closes.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~40s. Here's the built app running on an Android emulator. On the left, the home screen with the day's meals and macro totals. In the middle, a restaurant menu and the ordering flow. On the right, the complaint verification screen for owners. Same design language throughout — I'll drop real screenshots in here.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~55s. Where does this sit? Trackers like MyFitnessPal, Lifesum, Yazio, Cronometer track well but can't order, and many rely on crowd-sourced data that's often wrong. Delivery apps — Uber Eats, Glovo, Bolt Food, Tazz — order well but never track; the calorie number just sits on screen. And image forensics tools exist but aren't inside either app. CalorieTrack brings all three together.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~55s. It's built on clean, layered architecture. Presentation depends on application, application on domain. The domain — the entities and business rules — has zero framework code: no database, no HTTP, no Flutter. Infrastructure sits outside and implements the interfaces the domain defines: SQLite, the USDA and OpenAI clients, the password hasher. A single composition root wires it all together. That's what makes the core logic testable and the constraints enforceable.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~65s. This is the heart of the thesis. Most apps put allergies and budget into the prompt and hope the model obeys — but a language model can ignore instructions or invent dishes. So I flip it: FIRST, in plain Dart, I discard every dish that breaks an allergy, a diet, or the budget. Only the safe set is sent to the model, and its only job is to rank them. Then I validate the returned IDs and throw away anything invented. The call fixes temperature to zero, seeds from the request, and pins a strict schema — so it's reproducible. Safety is enforced by the architecture, not requested from the model.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~50s. First problem. The USDA database is authoritative, but it's huge — over three hundred thousand items. When I searched 'chicken', the top results were chicken oil, chicken powder, chicken-flavored cake. Correct matches, useless suggestions. So I wrote a ranking service: it scores each result on name-match quality and penalises derivative words like oil, powder, cake, juice. The real food rises to the top. It's a pure function in the domain layer, so I can unit-test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~45s. Second problem. Early on you could add dishes from different restaurants into the same cart — but no kitchen can deliver a burger from one place and sushi from another in one order. So the cart is bound to a single restaurant. If you pick something from another one, it asks you to confirm and starts a fresh cart. This is enforced right in the Cart domain object — trying to mix restaurants raises a conflict. It keeps checkout a single, atomic, actually-deliverable order.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~60s. How does the photo check actually work? It reads the FILE, not the pixels — that's what lets it answer instantly on the phone. It pulls the EXIF camera make and model and capture time, any software tag, and scans for a C2PA content credential. Then it maps those signals to one of four verdicts, strongest first: a C2PA credential or generator tag means likely AI-generated, high confidence. An editor tag means possibly edited. A real camera make and model means likely genuine. And crucially — no signal means INCONCLUSIVE, not genuine, because metadata can be stripped. It's deterministic, and the model never sees the image, so a convincing fake can't fool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~45s. To sum up the contributions. One: ordering and tracking are unified in a single atomic transaction, so nothing drifts. Two: the AI recommender enforces safety in the architecture, not the prompt, and it's reproducible. Three: complaint photos are verified deterministically from the file, with the model kept away from the image. One app that records what you eat, ties it to real ordering, and defends the trust that ordering depends 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~15s. Thank you — I'm happy to take questions. Likely questions: why not put constraints in the prompt (reliability + reproducibility); why metadata not pixel analysis (instant, on-device, no trained model); why a local SQLite / no backend (scope of a thesis, local-first, atomic transactions).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868680"/>
            <a:ext cx="10509199" cy="457200"/>
          </a:xfrm>
          <a:prstGeom prst="rect">
            <a:avLst/>
          </a:prstGeom>
          <a:noFill/>
        </p:spPr>
        <p:txBody>
          <a:bodyPr wrap="square" lIns="0" tIns="0" rIns="0" bIns="0" anchor="t">
            <a:spAutoFit/>
          </a:bodyPr>
          <a:lstStyle/>
          <a:p>
            <a:pPr algn="l"/>
            <a:r>
              <a:rPr sz="1200" b="1" i="0">
                <a:solidFill>
                  <a:srgbClr val="16A34A"/>
                </a:solidFill>
                <a:latin typeface="Segoe UI"/>
              </a:rPr>
              <a:t>BABEȘ-BOLYAI UNIVERSITY  ·  FACULTY OF MATHEMATICS AND COMPUTER SCIENCE</a:t>
            </a:r>
          </a:p>
        </p:txBody>
      </p:sp>
      <p:sp>
        <p:nvSpPr>
          <p:cNvPr id="5" name="TextBox 4"/>
          <p:cNvSpPr txBox="1"/>
          <p:nvPr/>
        </p:nvSpPr>
        <p:spPr>
          <a:xfrm>
            <a:off x="841248" y="1737360"/>
            <a:ext cx="10509199" cy="1280160"/>
          </a:xfrm>
          <a:prstGeom prst="rect">
            <a:avLst/>
          </a:prstGeom>
          <a:noFill/>
        </p:spPr>
        <p:txBody>
          <a:bodyPr wrap="square" lIns="0" tIns="0" rIns="0" bIns="0" anchor="t">
            <a:spAutoFit/>
          </a:bodyPr>
          <a:lstStyle/>
          <a:p>
            <a:pPr algn="l"/>
            <a:r>
              <a:rPr sz="6200" b="1" i="0">
                <a:solidFill>
                  <a:srgbClr val="0A0A0A"/>
                </a:solidFill>
                <a:latin typeface="Segoe UI"/>
              </a:rPr>
              <a:t>CalorieTrack</a:t>
            </a:r>
          </a:p>
        </p:txBody>
      </p:sp>
      <p:sp>
        <p:nvSpPr>
          <p:cNvPr id="6" name="Rectangle 5"/>
          <p:cNvSpPr/>
          <p:nvPr/>
        </p:nvSpPr>
        <p:spPr>
          <a:xfrm>
            <a:off x="877824" y="2907792"/>
            <a:ext cx="1371600" cy="5486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3154680"/>
            <a:ext cx="10051999" cy="1280160"/>
          </a:xfrm>
          <a:prstGeom prst="rect">
            <a:avLst/>
          </a:prstGeom>
          <a:noFill/>
        </p:spPr>
        <p:txBody>
          <a:bodyPr wrap="square" lIns="0" tIns="0" rIns="0" bIns="0" anchor="t">
            <a:spAutoFit/>
          </a:bodyPr>
          <a:lstStyle/>
          <a:p>
            <a:pPr algn="l">
              <a:lnSpc>
                <a:spcPct val="112000"/>
              </a:lnSpc>
            </a:pPr>
            <a:r>
              <a:rPr sz="2300" b="0" i="0">
                <a:solidFill>
                  <a:srgbClr val="0A0A0A"/>
                </a:solidFill>
                <a:latin typeface="Segoe UI"/>
              </a:rPr>
              <a:t>An AI-Assisted Mobile Application for Nutrition Tracking, Food Ordering and Complaint Verification</a:t>
            </a:r>
          </a:p>
        </p:txBody>
      </p:sp>
      <p:sp>
        <p:nvSpPr>
          <p:cNvPr id="8" name="TextBox 7"/>
          <p:cNvSpPr txBox="1"/>
          <p:nvPr/>
        </p:nvSpPr>
        <p:spPr>
          <a:xfrm>
            <a:off x="841248" y="5074920"/>
            <a:ext cx="10509199" cy="365760"/>
          </a:xfrm>
          <a:prstGeom prst="rect">
            <a:avLst/>
          </a:prstGeom>
          <a:noFill/>
        </p:spPr>
        <p:txBody>
          <a:bodyPr wrap="square" lIns="0" tIns="0" rIns="0" bIns="0" anchor="t">
            <a:spAutoFit/>
          </a:bodyPr>
          <a:lstStyle/>
          <a:p>
            <a:pPr algn="l"/>
            <a:r>
              <a:rPr sz="1100" b="1" i="0">
                <a:solidFill>
                  <a:srgbClr val="9CA3AF"/>
                </a:solidFill>
                <a:latin typeface="Segoe UI"/>
              </a:rPr>
              <a:t>AUTHOR</a:t>
            </a:r>
            <a:r>
              <a:rPr sz="1500" b="1" i="0">
                <a:solidFill>
                  <a:srgbClr val="0A0A0A"/>
                </a:solidFill>
                <a:latin typeface="Segoe UI"/>
              </a:rPr>
              <a:t>      Chis Denis</a:t>
            </a:r>
          </a:p>
        </p:txBody>
      </p:sp>
      <p:sp>
        <p:nvSpPr>
          <p:cNvPr id="9" name="TextBox 8"/>
          <p:cNvSpPr txBox="1"/>
          <p:nvPr/>
        </p:nvSpPr>
        <p:spPr>
          <a:xfrm>
            <a:off x="841248" y="5532120"/>
            <a:ext cx="10509199" cy="365760"/>
          </a:xfrm>
          <a:prstGeom prst="rect">
            <a:avLst/>
          </a:prstGeom>
          <a:noFill/>
        </p:spPr>
        <p:txBody>
          <a:bodyPr wrap="square" lIns="0" tIns="0" rIns="0" bIns="0" anchor="t">
            <a:spAutoFit/>
          </a:bodyPr>
          <a:lstStyle/>
          <a:p>
            <a:pPr algn="l"/>
            <a:r>
              <a:rPr sz="1100" b="1" i="0">
                <a:solidFill>
                  <a:srgbClr val="9CA3AF"/>
                </a:solidFill>
                <a:latin typeface="Segoe UI"/>
              </a:rPr>
              <a:t>SUPERVISOR</a:t>
            </a:r>
            <a:r>
              <a:rPr sz="1500" b="1" i="0">
                <a:solidFill>
                  <a:srgbClr val="0A0A0A"/>
                </a:solidFill>
                <a:latin typeface="Segoe UI"/>
              </a:rPr>
              <a:t>   Lect. PhD. Horea Bogdan Mureșan</a:t>
            </a:r>
          </a:p>
        </p:txBody>
      </p:sp>
      <p:sp>
        <p:nvSpPr>
          <p:cNvPr id="10" name="TextBox 9"/>
          <p:cNvSpPr txBox="1"/>
          <p:nvPr/>
        </p:nvSpPr>
        <p:spPr>
          <a:xfrm>
            <a:off x="841248" y="6172200"/>
            <a:ext cx="10509199" cy="365760"/>
          </a:xfrm>
          <a:prstGeom prst="rect">
            <a:avLst/>
          </a:prstGeom>
          <a:noFill/>
        </p:spPr>
        <p:txBody>
          <a:bodyPr wrap="square" lIns="0" tIns="0" rIns="0" bIns="0" anchor="t">
            <a:spAutoFit/>
          </a:bodyPr>
          <a:lstStyle/>
          <a:p>
            <a:pPr algn="l"/>
            <a:r>
              <a:rPr sz="1200" b="0" i="0">
                <a:solidFill>
                  <a:srgbClr val="6B7280"/>
                </a:solidFill>
                <a:latin typeface="Segoe UI"/>
              </a:rPr>
              <a:t>Cluj-Napoca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THE TITLE, IN THREE PARTS</a:t>
            </a:r>
          </a:p>
        </p:txBody>
      </p:sp>
      <p:sp>
        <p:nvSpPr>
          <p:cNvPr id="5" name="TextBox 4"/>
          <p:cNvSpPr txBox="1"/>
          <p:nvPr/>
        </p:nvSpPr>
        <p:spPr>
          <a:xfrm>
            <a:off x="841248" y="1554480"/>
            <a:ext cx="2926080" cy="2377440"/>
          </a:xfrm>
          <a:prstGeom prst="rect">
            <a:avLst/>
          </a:prstGeom>
          <a:noFill/>
        </p:spPr>
        <p:txBody>
          <a:bodyPr wrap="square" lIns="0" tIns="0" rIns="0" bIns="0" anchor="t">
            <a:spAutoFit/>
          </a:bodyPr>
          <a:lstStyle/>
          <a:p>
            <a:pPr algn="l"/>
            <a:r>
              <a:rPr sz="15000" b="1" i="0">
                <a:solidFill>
                  <a:srgbClr val="16A34A"/>
                </a:solidFill>
                <a:latin typeface="Segoe UI"/>
              </a:rPr>
              <a:t>01</a:t>
            </a:r>
          </a:p>
        </p:txBody>
      </p:sp>
      <p:sp>
        <p:nvSpPr>
          <p:cNvPr id="6" name="TextBox 5"/>
          <p:cNvSpPr txBox="1"/>
          <p:nvPr/>
        </p:nvSpPr>
        <p:spPr>
          <a:xfrm>
            <a:off x="3383280" y="1874519"/>
            <a:ext cx="7948879" cy="1097280"/>
          </a:xfrm>
          <a:prstGeom prst="rect">
            <a:avLst/>
          </a:prstGeom>
          <a:noFill/>
        </p:spPr>
        <p:txBody>
          <a:bodyPr wrap="square" lIns="0" tIns="0" rIns="0" bIns="0" anchor="t">
            <a:spAutoFit/>
          </a:bodyPr>
          <a:lstStyle/>
          <a:p>
            <a:pPr algn="l"/>
            <a:r>
              <a:rPr sz="4400" b="1" i="0">
                <a:solidFill>
                  <a:srgbClr val="0A0A0A"/>
                </a:solidFill>
                <a:latin typeface="Segoe UI"/>
              </a:rPr>
              <a:t>Nutrition Tracking</a:t>
            </a:r>
          </a:p>
        </p:txBody>
      </p:sp>
      <p:sp>
        <p:nvSpPr>
          <p:cNvPr id="7" name="TextBox 6"/>
          <p:cNvSpPr txBox="1"/>
          <p:nvPr/>
        </p:nvSpPr>
        <p:spPr>
          <a:xfrm>
            <a:off x="3401568" y="3063240"/>
            <a:ext cx="7857439" cy="1463040"/>
          </a:xfrm>
          <a:prstGeom prst="rect">
            <a:avLst/>
          </a:prstGeom>
          <a:noFill/>
        </p:spPr>
        <p:txBody>
          <a:bodyPr wrap="square" lIns="0" tIns="0" rIns="0" bIns="0" anchor="t">
            <a:spAutoFit/>
          </a:bodyPr>
          <a:lstStyle/>
          <a:p>
            <a:pPr algn="l">
              <a:lnSpc>
                <a:spcPct val="120000"/>
              </a:lnSpc>
            </a:pPr>
            <a:r>
              <a:rPr sz="2000" b="0" i="0">
                <a:solidFill>
                  <a:srgbClr val="6B7280"/>
                </a:solidFill>
                <a:latin typeface="Segoe UI"/>
              </a:rPr>
              <a:t>Log every meal with a full macronutrient breakdown — from objective USDA data, not crowd-sourced guesses.</a:t>
            </a:r>
          </a:p>
        </p:txBody>
      </p:sp>
      <p:sp>
        <p:nvSpPr>
          <p:cNvPr id="8" name="Rounded Rectangle 7"/>
          <p:cNvSpPr/>
          <p:nvPr/>
        </p:nvSpPr>
        <p:spPr>
          <a:xfrm>
            <a:off x="3401568" y="4800600"/>
            <a:ext cx="1868119"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a:solidFill>
                  <a:srgbClr val="16A34A"/>
                </a:solidFill>
                <a:latin typeface="Segoe UI"/>
              </a:rPr>
              <a:t>USDA FoodData Central</a:t>
            </a:r>
          </a:p>
        </p:txBody>
      </p:sp>
      <p:sp>
        <p:nvSpPr>
          <p:cNvPr id="9" name="Rounded Rectangle 8"/>
          <p:cNvSpPr/>
          <p:nvPr/>
        </p:nvSpPr>
        <p:spPr>
          <a:xfrm>
            <a:off x="5470855" y="4800600"/>
            <a:ext cx="881481"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a:solidFill>
                  <a:srgbClr val="16A34A"/>
                </a:solidFill>
                <a:latin typeface="Segoe UI"/>
              </a:rPr>
              <a:t>6 macros</a:t>
            </a:r>
          </a:p>
        </p:txBody>
      </p:sp>
      <p:sp>
        <p:nvSpPr>
          <p:cNvPr id="10" name="Rounded Rectangle 9"/>
          <p:cNvSpPr/>
          <p:nvPr/>
        </p:nvSpPr>
        <p:spPr>
          <a:xfrm>
            <a:off x="6553504" y="4800600"/>
            <a:ext cx="1185062"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a:solidFill>
                  <a:srgbClr val="16A34A"/>
                </a:solidFill>
                <a:latin typeface="Segoe UI"/>
              </a:rPr>
              <a:t>Daily totals</a:t>
            </a:r>
          </a:p>
        </p:txBody>
      </p:sp>
      <p:sp>
        <p:nvSpPr>
          <p:cNvPr id="11" name="Rectangle 10"/>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13" name="TextBox 12"/>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02</a:t>
            </a:r>
            <a:r>
              <a:rPr sz="900" b="0" i="0">
                <a:solidFill>
                  <a:srgbClr val="9CA3AF"/>
                </a:solidFill>
                <a:latin typeface="Segoe UI"/>
              </a:rPr>
              <a:t> / 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THE TITLE, IN THREE PARTS</a:t>
            </a:r>
          </a:p>
        </p:txBody>
      </p:sp>
      <p:sp>
        <p:nvSpPr>
          <p:cNvPr id="5" name="TextBox 4"/>
          <p:cNvSpPr txBox="1"/>
          <p:nvPr/>
        </p:nvSpPr>
        <p:spPr>
          <a:xfrm>
            <a:off x="841248" y="1554480"/>
            <a:ext cx="2926080" cy="2377440"/>
          </a:xfrm>
          <a:prstGeom prst="rect">
            <a:avLst/>
          </a:prstGeom>
          <a:noFill/>
        </p:spPr>
        <p:txBody>
          <a:bodyPr wrap="square" lIns="0" tIns="0" rIns="0" bIns="0" anchor="t">
            <a:spAutoFit/>
          </a:bodyPr>
          <a:lstStyle/>
          <a:p>
            <a:pPr algn="l"/>
            <a:r>
              <a:rPr sz="15000" b="1" i="0">
                <a:solidFill>
                  <a:srgbClr val="6366F1"/>
                </a:solidFill>
                <a:latin typeface="Segoe UI"/>
              </a:rPr>
              <a:t>02</a:t>
            </a:r>
          </a:p>
        </p:txBody>
      </p:sp>
      <p:sp>
        <p:nvSpPr>
          <p:cNvPr id="6" name="TextBox 5"/>
          <p:cNvSpPr txBox="1"/>
          <p:nvPr/>
        </p:nvSpPr>
        <p:spPr>
          <a:xfrm>
            <a:off x="3383280" y="1874519"/>
            <a:ext cx="7948879" cy="1097280"/>
          </a:xfrm>
          <a:prstGeom prst="rect">
            <a:avLst/>
          </a:prstGeom>
          <a:noFill/>
        </p:spPr>
        <p:txBody>
          <a:bodyPr wrap="square" lIns="0" tIns="0" rIns="0" bIns="0" anchor="t">
            <a:spAutoFit/>
          </a:bodyPr>
          <a:lstStyle/>
          <a:p>
            <a:pPr algn="l"/>
            <a:r>
              <a:rPr sz="4400" b="1" i="0">
                <a:solidFill>
                  <a:srgbClr val="0A0A0A"/>
                </a:solidFill>
                <a:latin typeface="Segoe UI"/>
              </a:rPr>
              <a:t>Food Ordering</a:t>
            </a:r>
          </a:p>
        </p:txBody>
      </p:sp>
      <p:sp>
        <p:nvSpPr>
          <p:cNvPr id="7" name="TextBox 6"/>
          <p:cNvSpPr txBox="1"/>
          <p:nvPr/>
        </p:nvSpPr>
        <p:spPr>
          <a:xfrm>
            <a:off x="3401568" y="3063240"/>
            <a:ext cx="7857439" cy="1463040"/>
          </a:xfrm>
          <a:prstGeom prst="rect">
            <a:avLst/>
          </a:prstGeom>
          <a:noFill/>
        </p:spPr>
        <p:txBody>
          <a:bodyPr wrap="square" lIns="0" tIns="0" rIns="0" bIns="0" anchor="t">
            <a:spAutoFit/>
          </a:bodyPr>
          <a:lstStyle/>
          <a:p>
            <a:pPr algn="l">
              <a:lnSpc>
                <a:spcPct val="120000"/>
              </a:lnSpc>
            </a:pPr>
            <a:r>
              <a:rPr sz="2000" b="0" i="0">
                <a:solidFill>
                  <a:srgbClr val="6B7280"/>
                </a:solidFill>
                <a:latin typeface="Segoe UI"/>
              </a:rPr>
              <a:t>Ordering a meal is logging it. One atomic checkout writes the order, debits the wallet, and logs every item as a meal.</a:t>
            </a:r>
          </a:p>
        </p:txBody>
      </p:sp>
      <p:sp>
        <p:nvSpPr>
          <p:cNvPr id="8" name="Rounded Rectangle 7"/>
          <p:cNvSpPr/>
          <p:nvPr/>
        </p:nvSpPr>
        <p:spPr>
          <a:xfrm>
            <a:off x="3401568" y="4800600"/>
            <a:ext cx="1336852"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a:solidFill>
                  <a:srgbClr val="6366F1"/>
                </a:solidFill>
                <a:latin typeface="Segoe UI"/>
              </a:rPr>
              <a:t>76 restaurants</a:t>
            </a:r>
          </a:p>
        </p:txBody>
      </p:sp>
      <p:sp>
        <p:nvSpPr>
          <p:cNvPr id="9" name="Rounded Rectangle 8"/>
          <p:cNvSpPr/>
          <p:nvPr/>
        </p:nvSpPr>
        <p:spPr>
          <a:xfrm>
            <a:off x="4939588" y="4800600"/>
            <a:ext cx="1412748"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a:solidFill>
                  <a:srgbClr val="6366F1"/>
                </a:solidFill>
                <a:latin typeface="Segoe UI"/>
              </a:rPr>
              <a:t>One transaction</a:t>
            </a:r>
          </a:p>
        </p:txBody>
      </p:sp>
      <p:sp>
        <p:nvSpPr>
          <p:cNvPr id="10" name="Rounded Rectangle 9"/>
          <p:cNvSpPr/>
          <p:nvPr/>
        </p:nvSpPr>
        <p:spPr>
          <a:xfrm>
            <a:off x="6553504" y="4800600"/>
            <a:ext cx="1488643"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a:solidFill>
                  <a:srgbClr val="6366F1"/>
                </a:solidFill>
                <a:latin typeface="Segoe UI"/>
              </a:rPr>
              <a:t>Simulated wallet</a:t>
            </a:r>
          </a:p>
        </p:txBody>
      </p:sp>
      <p:sp>
        <p:nvSpPr>
          <p:cNvPr id="11" name="Rectangle 10"/>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13" name="TextBox 12"/>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03</a:t>
            </a:r>
            <a:r>
              <a:rPr sz="900" b="0" i="0">
                <a:solidFill>
                  <a:srgbClr val="9CA3AF"/>
                </a:solidFill>
                <a:latin typeface="Segoe UI"/>
              </a:rPr>
              <a:t> / 14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THE TITLE, IN THREE PARTS</a:t>
            </a:r>
          </a:p>
        </p:txBody>
      </p:sp>
      <p:sp>
        <p:nvSpPr>
          <p:cNvPr id="5" name="TextBox 4"/>
          <p:cNvSpPr txBox="1"/>
          <p:nvPr/>
        </p:nvSpPr>
        <p:spPr>
          <a:xfrm>
            <a:off x="841248" y="1554480"/>
            <a:ext cx="2926080" cy="2377440"/>
          </a:xfrm>
          <a:prstGeom prst="rect">
            <a:avLst/>
          </a:prstGeom>
          <a:noFill/>
        </p:spPr>
        <p:txBody>
          <a:bodyPr wrap="square" lIns="0" tIns="0" rIns="0" bIns="0" anchor="t">
            <a:spAutoFit/>
          </a:bodyPr>
          <a:lstStyle/>
          <a:p>
            <a:pPr algn="l"/>
            <a:r>
              <a:rPr sz="15000" b="1" i="0">
                <a:solidFill>
                  <a:srgbClr val="F59E0B"/>
                </a:solidFill>
                <a:latin typeface="Segoe UI"/>
              </a:rPr>
              <a:t>03</a:t>
            </a:r>
          </a:p>
        </p:txBody>
      </p:sp>
      <p:sp>
        <p:nvSpPr>
          <p:cNvPr id="6" name="TextBox 5"/>
          <p:cNvSpPr txBox="1"/>
          <p:nvPr/>
        </p:nvSpPr>
        <p:spPr>
          <a:xfrm>
            <a:off x="3383280" y="1874519"/>
            <a:ext cx="7948879" cy="1097280"/>
          </a:xfrm>
          <a:prstGeom prst="rect">
            <a:avLst/>
          </a:prstGeom>
          <a:noFill/>
        </p:spPr>
        <p:txBody>
          <a:bodyPr wrap="square" lIns="0" tIns="0" rIns="0" bIns="0" anchor="t">
            <a:spAutoFit/>
          </a:bodyPr>
          <a:lstStyle/>
          <a:p>
            <a:pPr algn="l"/>
            <a:r>
              <a:rPr sz="4400" b="1" i="0">
                <a:solidFill>
                  <a:srgbClr val="0A0A0A"/>
                </a:solidFill>
                <a:latin typeface="Segoe UI"/>
              </a:rPr>
              <a:t>Complaint Verification</a:t>
            </a:r>
          </a:p>
        </p:txBody>
      </p:sp>
      <p:sp>
        <p:nvSpPr>
          <p:cNvPr id="7" name="TextBox 6"/>
          <p:cNvSpPr txBox="1"/>
          <p:nvPr/>
        </p:nvSpPr>
        <p:spPr>
          <a:xfrm>
            <a:off x="3401568" y="3063240"/>
            <a:ext cx="7857439" cy="1463040"/>
          </a:xfrm>
          <a:prstGeom prst="rect">
            <a:avLst/>
          </a:prstGeom>
          <a:noFill/>
        </p:spPr>
        <p:txBody>
          <a:bodyPr wrap="square" lIns="0" tIns="0" rIns="0" bIns="0" anchor="t">
            <a:spAutoFit/>
          </a:bodyPr>
          <a:lstStyle/>
          <a:p>
            <a:pPr algn="l">
              <a:lnSpc>
                <a:spcPct val="120000"/>
              </a:lnSpc>
            </a:pPr>
            <a:r>
              <a:rPr sz="2000" b="0" i="0" dirty="0">
                <a:solidFill>
                  <a:srgbClr val="6B7280"/>
                </a:solidFill>
                <a:latin typeface="Segoe UI"/>
              </a:rPr>
              <a:t>A tool for restaurant owners: is this complaint photo a real camera capture, edited, or AI-generated?</a:t>
            </a:r>
          </a:p>
        </p:txBody>
      </p:sp>
      <p:sp>
        <p:nvSpPr>
          <p:cNvPr id="8" name="Rounded Rectangle 7"/>
          <p:cNvSpPr/>
          <p:nvPr/>
        </p:nvSpPr>
        <p:spPr>
          <a:xfrm>
            <a:off x="3285941" y="4800600"/>
            <a:ext cx="1073003"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dirty="0">
                <a:solidFill>
                  <a:srgbClr val="F59E0B"/>
                </a:solidFill>
                <a:latin typeface="Segoe UI"/>
              </a:rPr>
              <a:t>On-device</a:t>
            </a:r>
          </a:p>
        </p:txBody>
      </p:sp>
      <p:sp>
        <p:nvSpPr>
          <p:cNvPr id="9" name="Rounded Rectangle 8"/>
          <p:cNvSpPr/>
          <p:nvPr/>
        </p:nvSpPr>
        <p:spPr>
          <a:xfrm>
            <a:off x="4560112" y="4800600"/>
            <a:ext cx="619522"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dirty="0">
                <a:solidFill>
                  <a:srgbClr val="F59E0B"/>
                </a:solidFill>
                <a:latin typeface="Segoe UI"/>
              </a:rPr>
              <a:t>EXIF</a:t>
            </a:r>
          </a:p>
        </p:txBody>
      </p:sp>
      <p:sp>
        <p:nvSpPr>
          <p:cNvPr id="10" name="Rounded Rectangle 9"/>
          <p:cNvSpPr/>
          <p:nvPr/>
        </p:nvSpPr>
        <p:spPr>
          <a:xfrm>
            <a:off x="5339181" y="4800600"/>
            <a:ext cx="1488643" cy="384048"/>
          </a:xfrm>
          <a:prstGeom prst="roundRect">
            <a:avLst>
              <a:gd name="adj" fmla="val 50000"/>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100" b="1">
                <a:solidFill>
                  <a:srgbClr val="F59E0B"/>
                </a:solidFill>
                <a:latin typeface="Segoe UI"/>
              </a:rPr>
              <a:t>C2PA credentials</a:t>
            </a:r>
          </a:p>
        </p:txBody>
      </p:sp>
      <p:sp>
        <p:nvSpPr>
          <p:cNvPr id="11" name="Rectangle 10"/>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13" name="TextBox 12"/>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04</a:t>
            </a:r>
            <a:r>
              <a:rPr sz="900" b="0" i="0">
                <a:solidFill>
                  <a:srgbClr val="9CA3AF"/>
                </a:solidFill>
                <a:latin typeface="Segoe UI"/>
              </a:rPr>
              <a:t> / 14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WHERE THE IDEA STARTED</a:t>
            </a:r>
          </a:p>
        </p:txBody>
      </p:sp>
      <p:sp>
        <p:nvSpPr>
          <p:cNvPr id="5" name="TextBox 4"/>
          <p:cNvSpPr txBox="1"/>
          <p:nvPr/>
        </p:nvSpPr>
        <p:spPr>
          <a:xfrm>
            <a:off x="841248" y="932688"/>
            <a:ext cx="10509199" cy="822960"/>
          </a:xfrm>
          <a:prstGeom prst="rect">
            <a:avLst/>
          </a:prstGeom>
          <a:noFill/>
        </p:spPr>
        <p:txBody>
          <a:bodyPr wrap="square" lIns="0" tIns="0" rIns="0" bIns="0" anchor="t">
            <a:spAutoFit/>
          </a:bodyPr>
          <a:lstStyle/>
          <a:p>
            <a:pPr algn="l">
              <a:lnSpc>
                <a:spcPct val="100000"/>
              </a:lnSpc>
            </a:pPr>
            <a:r>
              <a:rPr sz="3000" b="1" i="0">
                <a:solidFill>
                  <a:srgbClr val="0A0A0A"/>
                </a:solidFill>
                <a:latin typeface="Segoe UI"/>
              </a:rPr>
              <a:t>The problem I ran into myself</a:t>
            </a:r>
          </a:p>
        </p:txBody>
      </p:sp>
      <p:sp>
        <p:nvSpPr>
          <p:cNvPr id="6" name="Rounded Rectangle 5"/>
          <p:cNvSpPr/>
          <p:nvPr/>
        </p:nvSpPr>
        <p:spPr>
          <a:xfrm>
            <a:off x="841248" y="1600200"/>
            <a:ext cx="10509199" cy="4160520"/>
          </a:xfrm>
          <a:prstGeom prst="roundRect">
            <a:avLst>
              <a:gd name="adj" fmla="val 3000"/>
            </a:avLst>
          </a:prstGeom>
          <a:solidFill>
            <a:srgbClr val="F2F2F2"/>
          </a:solidFill>
          <a:ln w="15875">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13" name="TextBox 12"/>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05</a:t>
            </a:r>
            <a:r>
              <a:rPr sz="900" b="0" i="0">
                <a:solidFill>
                  <a:srgbClr val="9CA3AF"/>
                </a:solidFill>
                <a:latin typeface="Segoe UI"/>
              </a:rPr>
              <a:t> / 14</a:t>
            </a:r>
          </a:p>
        </p:txBody>
      </p:sp>
      <p:pic>
        <p:nvPicPr>
          <p:cNvPr id="14" name="WhatsApp Video 2026-07-01 at 14.42.37">
            <a:hlinkClick r:id="" action="ppaction://media"/>
            <a:extLst>
              <a:ext uri="{FF2B5EF4-FFF2-40B4-BE49-F238E27FC236}">
                <a16:creationId xmlns:a16="http://schemas.microsoft.com/office/drawing/2014/main" id="{FC7D6A41-3E5F-D5AD-E06F-4885D09378D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348071" y="1648460"/>
            <a:ext cx="1879600" cy="4064000"/>
          </a:xfrm>
          <a:prstGeom prst="rect">
            <a:avLst/>
          </a:prstGeom>
        </p:spPr>
      </p:pic>
      <p:sp>
        <p:nvSpPr>
          <p:cNvPr id="15" name="AutoShape 2">
            <a:extLst>
              <a:ext uri="{FF2B5EF4-FFF2-40B4-BE49-F238E27FC236}">
                <a16:creationId xmlns:a16="http://schemas.microsoft.com/office/drawing/2014/main" id="{CBB65DBD-307A-F5FA-83D6-CFCEE35432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 name="AutoShape 6">
            <a:extLst>
              <a:ext uri="{FF2B5EF4-FFF2-40B4-BE49-F238E27FC236}">
                <a16:creationId xmlns:a16="http://schemas.microsoft.com/office/drawing/2014/main" id="{741162D1-B09C-AAE8-E9CF-10BDDA67554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 name="Picture 19">
            <a:extLst>
              <a:ext uri="{FF2B5EF4-FFF2-40B4-BE49-F238E27FC236}">
                <a16:creationId xmlns:a16="http://schemas.microsoft.com/office/drawing/2014/main" id="{64D27B94-8E68-8984-9C3E-17D33C266B1C}"/>
              </a:ext>
            </a:extLst>
          </p:cNvPr>
          <p:cNvPicPr>
            <a:picLocks noChangeAspect="1"/>
          </p:cNvPicPr>
          <p:nvPr/>
        </p:nvPicPr>
        <p:blipFill>
          <a:blip r:embed="rId6"/>
          <a:stretch>
            <a:fillRect/>
          </a:stretch>
        </p:blipFill>
        <p:spPr>
          <a:xfrm>
            <a:off x="1473125" y="1624330"/>
            <a:ext cx="2895675" cy="4112260"/>
          </a:xfrm>
          <a:prstGeom prst="rect">
            <a:avLst/>
          </a:prstGeom>
        </p:spPr>
      </p:pic>
      <p:pic>
        <p:nvPicPr>
          <p:cNvPr id="22" name="Picture 21">
            <a:extLst>
              <a:ext uri="{FF2B5EF4-FFF2-40B4-BE49-F238E27FC236}">
                <a16:creationId xmlns:a16="http://schemas.microsoft.com/office/drawing/2014/main" id="{6EA9433A-65DB-0626-644E-03A848E76F5D}"/>
              </a:ext>
            </a:extLst>
          </p:cNvPr>
          <p:cNvPicPr>
            <a:picLocks noChangeAspect="1"/>
          </p:cNvPicPr>
          <p:nvPr/>
        </p:nvPicPr>
        <p:blipFill>
          <a:blip r:embed="rId7"/>
          <a:stretch>
            <a:fillRect/>
          </a:stretch>
        </p:blipFill>
        <p:spPr>
          <a:xfrm>
            <a:off x="7479323" y="2103488"/>
            <a:ext cx="3753892" cy="31543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79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543900"/>
            <a:ext cx="10125151" cy="192360"/>
          </a:xfrm>
          <a:prstGeom prst="rect">
            <a:avLst/>
          </a:prstGeom>
          <a:noFill/>
        </p:spPr>
        <p:txBody>
          <a:bodyPr wrap="square" lIns="0" tIns="0" rIns="0" bIns="0" anchor="ctr">
            <a:spAutoFit/>
          </a:bodyPr>
          <a:lstStyle/>
          <a:p>
            <a:pPr algn="l"/>
            <a:r>
              <a:rPr lang="en-US" sz="1250" b="1" dirty="0">
                <a:solidFill>
                  <a:srgbClr val="16A34A"/>
                </a:solidFill>
                <a:latin typeface="Segoe UI"/>
              </a:rPr>
              <a:t>SOURCES</a:t>
            </a:r>
            <a:endParaRPr sz="1250" b="1" i="0" dirty="0">
              <a:solidFill>
                <a:srgbClr val="16A34A"/>
              </a:solidFill>
              <a:latin typeface="Segoe UI"/>
            </a:endParaRPr>
          </a:p>
        </p:txBody>
      </p:sp>
      <p:sp>
        <p:nvSpPr>
          <p:cNvPr id="5" name="TextBox 4"/>
          <p:cNvSpPr txBox="1"/>
          <p:nvPr/>
        </p:nvSpPr>
        <p:spPr>
          <a:xfrm>
            <a:off x="841248" y="932688"/>
            <a:ext cx="10509199" cy="822960"/>
          </a:xfrm>
          <a:prstGeom prst="rect">
            <a:avLst/>
          </a:prstGeom>
          <a:noFill/>
        </p:spPr>
        <p:txBody>
          <a:bodyPr wrap="square" lIns="0" tIns="0" rIns="0" bIns="0" anchor="t">
            <a:spAutoFit/>
          </a:bodyPr>
          <a:lstStyle/>
          <a:p>
            <a:pPr algn="l">
              <a:lnSpc>
                <a:spcPct val="100000"/>
              </a:lnSpc>
            </a:pPr>
            <a:r>
              <a:rPr sz="3000" b="1" i="0">
                <a:solidFill>
                  <a:srgbClr val="0A0A0A"/>
                </a:solidFill>
                <a:latin typeface="Segoe UI"/>
              </a:rPr>
              <a:t>What it looks like</a:t>
            </a:r>
          </a:p>
        </p:txBody>
      </p:sp>
      <p:sp>
        <p:nvSpPr>
          <p:cNvPr id="19" name="Rectangle 18"/>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21" name="TextBox 20"/>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06</a:t>
            </a:r>
            <a:r>
              <a:rPr sz="900" b="0" i="0">
                <a:solidFill>
                  <a:srgbClr val="9CA3AF"/>
                </a:solidFill>
                <a:latin typeface="Segoe UI"/>
              </a:rPr>
              <a:t> / 14</a:t>
            </a:r>
          </a:p>
        </p:txBody>
      </p:sp>
      <p:pic>
        <p:nvPicPr>
          <p:cNvPr id="25" name="Picture 24">
            <a:extLst>
              <a:ext uri="{FF2B5EF4-FFF2-40B4-BE49-F238E27FC236}">
                <a16:creationId xmlns:a16="http://schemas.microsoft.com/office/drawing/2014/main" id="{A216B06E-308C-E941-84D1-722102448D9F}"/>
              </a:ext>
            </a:extLst>
          </p:cNvPr>
          <p:cNvPicPr>
            <a:picLocks noChangeAspect="1"/>
          </p:cNvPicPr>
          <p:nvPr/>
        </p:nvPicPr>
        <p:blipFill>
          <a:blip r:embed="rId3"/>
          <a:stretch>
            <a:fillRect/>
          </a:stretch>
        </p:blipFill>
        <p:spPr>
          <a:xfrm>
            <a:off x="841248" y="1887119"/>
            <a:ext cx="4433980" cy="3512581"/>
          </a:xfrm>
          <a:prstGeom prst="rect">
            <a:avLst/>
          </a:prstGeom>
        </p:spPr>
      </p:pic>
      <p:pic>
        <p:nvPicPr>
          <p:cNvPr id="27" name="Picture 26">
            <a:extLst>
              <a:ext uri="{FF2B5EF4-FFF2-40B4-BE49-F238E27FC236}">
                <a16:creationId xmlns:a16="http://schemas.microsoft.com/office/drawing/2014/main" id="{6FE25714-25A3-6CD2-51CE-A11A0C2254F0}"/>
              </a:ext>
            </a:extLst>
          </p:cNvPr>
          <p:cNvPicPr>
            <a:picLocks noChangeAspect="1"/>
          </p:cNvPicPr>
          <p:nvPr/>
        </p:nvPicPr>
        <p:blipFill>
          <a:blip r:embed="rId4"/>
          <a:stretch>
            <a:fillRect/>
          </a:stretch>
        </p:blipFill>
        <p:spPr>
          <a:xfrm>
            <a:off x="6873405" y="1808453"/>
            <a:ext cx="3883504" cy="36699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STATE OF THE ART</a:t>
            </a:r>
          </a:p>
        </p:txBody>
      </p:sp>
      <p:sp>
        <p:nvSpPr>
          <p:cNvPr id="5" name="TextBox 4"/>
          <p:cNvSpPr txBox="1"/>
          <p:nvPr/>
        </p:nvSpPr>
        <p:spPr>
          <a:xfrm>
            <a:off x="841248" y="932688"/>
            <a:ext cx="10509199" cy="822960"/>
          </a:xfrm>
          <a:prstGeom prst="rect">
            <a:avLst/>
          </a:prstGeom>
          <a:noFill/>
        </p:spPr>
        <p:txBody>
          <a:bodyPr wrap="square" lIns="0" tIns="0" rIns="0" bIns="0" anchor="t">
            <a:spAutoFit/>
          </a:bodyPr>
          <a:lstStyle/>
          <a:p>
            <a:pPr algn="l">
              <a:lnSpc>
                <a:spcPct val="100000"/>
              </a:lnSpc>
            </a:pPr>
            <a:r>
              <a:rPr sz="3000" b="1" i="0">
                <a:solidFill>
                  <a:srgbClr val="0A0A0A"/>
                </a:solidFill>
                <a:latin typeface="Segoe UI"/>
              </a:rPr>
              <a:t>Everyone solves half of it</a:t>
            </a:r>
          </a:p>
        </p:txBody>
      </p:sp>
      <p:sp>
        <p:nvSpPr>
          <p:cNvPr id="6" name="Rounded Rectangle 5"/>
          <p:cNvSpPr/>
          <p:nvPr/>
        </p:nvSpPr>
        <p:spPr>
          <a:xfrm>
            <a:off x="841248" y="1691640"/>
            <a:ext cx="3228746" cy="3063240"/>
          </a:xfrm>
          <a:prstGeom prst="roundRect">
            <a:avLst>
              <a:gd name="adj" fmla="val 5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41248" y="1691640"/>
            <a:ext cx="3228746" cy="91440"/>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1965960"/>
            <a:ext cx="2716682" cy="365760"/>
          </a:xfrm>
          <a:prstGeom prst="rect">
            <a:avLst/>
          </a:prstGeom>
          <a:noFill/>
        </p:spPr>
        <p:txBody>
          <a:bodyPr wrap="square" lIns="0" tIns="0" rIns="0" bIns="0" anchor="t">
            <a:spAutoFit/>
          </a:bodyPr>
          <a:lstStyle/>
          <a:p>
            <a:pPr algn="l"/>
            <a:r>
              <a:rPr sz="1300" b="1" i="0">
                <a:solidFill>
                  <a:srgbClr val="16A34A"/>
                </a:solidFill>
                <a:latin typeface="Segoe UI"/>
              </a:rPr>
              <a:t>TRACKERS</a:t>
            </a:r>
          </a:p>
        </p:txBody>
      </p:sp>
      <p:sp>
        <p:nvSpPr>
          <p:cNvPr id="9" name="TextBox 8"/>
          <p:cNvSpPr txBox="1"/>
          <p:nvPr/>
        </p:nvSpPr>
        <p:spPr>
          <a:xfrm>
            <a:off x="1097280" y="2450592"/>
            <a:ext cx="2716682" cy="914400"/>
          </a:xfrm>
          <a:prstGeom prst="rect">
            <a:avLst/>
          </a:prstGeom>
          <a:noFill/>
        </p:spPr>
        <p:txBody>
          <a:bodyPr wrap="square" lIns="0" tIns="0" rIns="0" bIns="0" anchor="t">
            <a:spAutoFit/>
          </a:bodyPr>
          <a:lstStyle/>
          <a:p>
            <a:pPr algn="l">
              <a:lnSpc>
                <a:spcPct val="115000"/>
              </a:lnSpc>
            </a:pPr>
            <a:r>
              <a:rPr sz="1550" b="1" i="0">
                <a:solidFill>
                  <a:srgbClr val="0A0A0A"/>
                </a:solidFill>
                <a:latin typeface="Segoe UI"/>
              </a:rPr>
              <a:t>MyFitnessPal · Lifesum
Yazio · Cronometer</a:t>
            </a:r>
          </a:p>
        </p:txBody>
      </p:sp>
      <p:sp>
        <p:nvSpPr>
          <p:cNvPr id="10" name="TextBox 9"/>
          <p:cNvSpPr txBox="1"/>
          <p:nvPr/>
        </p:nvSpPr>
        <p:spPr>
          <a:xfrm>
            <a:off x="1097280" y="3611880"/>
            <a:ext cx="2716682" cy="1097280"/>
          </a:xfrm>
          <a:prstGeom prst="rect">
            <a:avLst/>
          </a:prstGeom>
          <a:noFill/>
        </p:spPr>
        <p:txBody>
          <a:bodyPr wrap="square" lIns="0" tIns="0" rIns="0" bIns="0" anchor="t">
            <a:spAutoFit/>
          </a:bodyPr>
          <a:lstStyle/>
          <a:p>
            <a:pPr algn="l">
              <a:lnSpc>
                <a:spcPct val="115000"/>
              </a:lnSpc>
            </a:pPr>
            <a:r>
              <a:rPr sz="1250" b="0" i="0">
                <a:solidFill>
                  <a:srgbClr val="6B7280"/>
                </a:solidFill>
                <a:latin typeface="Segoe UI"/>
              </a:rPr>
              <a:t>Track well — but can't order.
Often lean on crowd-sourced data.</a:t>
            </a:r>
          </a:p>
        </p:txBody>
      </p:sp>
      <p:sp>
        <p:nvSpPr>
          <p:cNvPr id="11" name="Rounded Rectangle 10"/>
          <p:cNvSpPr/>
          <p:nvPr/>
        </p:nvSpPr>
        <p:spPr>
          <a:xfrm>
            <a:off x="4481474" y="1691640"/>
            <a:ext cx="3228746" cy="3063240"/>
          </a:xfrm>
          <a:prstGeom prst="roundRect">
            <a:avLst>
              <a:gd name="adj" fmla="val 5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481474" y="1691640"/>
            <a:ext cx="3228746" cy="91440"/>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37506" y="1965960"/>
            <a:ext cx="2716682" cy="365760"/>
          </a:xfrm>
          <a:prstGeom prst="rect">
            <a:avLst/>
          </a:prstGeom>
          <a:noFill/>
        </p:spPr>
        <p:txBody>
          <a:bodyPr wrap="square" lIns="0" tIns="0" rIns="0" bIns="0" anchor="t">
            <a:spAutoFit/>
          </a:bodyPr>
          <a:lstStyle/>
          <a:p>
            <a:pPr algn="l"/>
            <a:r>
              <a:rPr sz="1300" b="1" i="0">
                <a:solidFill>
                  <a:srgbClr val="6366F1"/>
                </a:solidFill>
                <a:latin typeface="Segoe UI"/>
              </a:rPr>
              <a:t>DELIVERY</a:t>
            </a:r>
          </a:p>
        </p:txBody>
      </p:sp>
      <p:sp>
        <p:nvSpPr>
          <p:cNvPr id="14" name="TextBox 13"/>
          <p:cNvSpPr txBox="1"/>
          <p:nvPr/>
        </p:nvSpPr>
        <p:spPr>
          <a:xfrm>
            <a:off x="4737506" y="2450592"/>
            <a:ext cx="2716682" cy="914400"/>
          </a:xfrm>
          <a:prstGeom prst="rect">
            <a:avLst/>
          </a:prstGeom>
          <a:noFill/>
        </p:spPr>
        <p:txBody>
          <a:bodyPr wrap="square" lIns="0" tIns="0" rIns="0" bIns="0" anchor="t">
            <a:spAutoFit/>
          </a:bodyPr>
          <a:lstStyle/>
          <a:p>
            <a:pPr algn="l">
              <a:lnSpc>
                <a:spcPct val="115000"/>
              </a:lnSpc>
            </a:pPr>
            <a:r>
              <a:rPr sz="1550" b="1" i="0">
                <a:solidFill>
                  <a:srgbClr val="0A0A0A"/>
                </a:solidFill>
                <a:latin typeface="Segoe UI"/>
              </a:rPr>
              <a:t>Uber Eats · Glovo
Bolt Food · Tazz</a:t>
            </a:r>
          </a:p>
        </p:txBody>
      </p:sp>
      <p:sp>
        <p:nvSpPr>
          <p:cNvPr id="15" name="TextBox 14"/>
          <p:cNvSpPr txBox="1"/>
          <p:nvPr/>
        </p:nvSpPr>
        <p:spPr>
          <a:xfrm>
            <a:off x="4737506" y="3611880"/>
            <a:ext cx="2716682" cy="1097280"/>
          </a:xfrm>
          <a:prstGeom prst="rect">
            <a:avLst/>
          </a:prstGeom>
          <a:noFill/>
        </p:spPr>
        <p:txBody>
          <a:bodyPr wrap="square" lIns="0" tIns="0" rIns="0" bIns="0" anchor="t">
            <a:spAutoFit/>
          </a:bodyPr>
          <a:lstStyle/>
          <a:p>
            <a:pPr algn="l">
              <a:lnSpc>
                <a:spcPct val="115000"/>
              </a:lnSpc>
            </a:pPr>
            <a:r>
              <a:rPr sz="1250" b="0" i="0">
                <a:solidFill>
                  <a:srgbClr val="6B7280"/>
                </a:solidFill>
                <a:latin typeface="Segoe UI"/>
              </a:rPr>
              <a:t>Order well — but never track.
Calories stop at the screen.</a:t>
            </a:r>
          </a:p>
        </p:txBody>
      </p:sp>
      <p:sp>
        <p:nvSpPr>
          <p:cNvPr id="16" name="Rounded Rectangle 15"/>
          <p:cNvSpPr/>
          <p:nvPr/>
        </p:nvSpPr>
        <p:spPr>
          <a:xfrm>
            <a:off x="8121700" y="1691640"/>
            <a:ext cx="3228746" cy="3063240"/>
          </a:xfrm>
          <a:prstGeom prst="roundRect">
            <a:avLst>
              <a:gd name="adj" fmla="val 5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121700" y="1691640"/>
            <a:ext cx="3228746" cy="91440"/>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77732" y="1965960"/>
            <a:ext cx="2716682" cy="365760"/>
          </a:xfrm>
          <a:prstGeom prst="rect">
            <a:avLst/>
          </a:prstGeom>
          <a:noFill/>
        </p:spPr>
        <p:txBody>
          <a:bodyPr wrap="square" lIns="0" tIns="0" rIns="0" bIns="0" anchor="t">
            <a:spAutoFit/>
          </a:bodyPr>
          <a:lstStyle/>
          <a:p>
            <a:pPr algn="l"/>
            <a:r>
              <a:rPr sz="1300" b="1" i="0">
                <a:solidFill>
                  <a:srgbClr val="F59E0B"/>
                </a:solidFill>
                <a:latin typeface="Segoe UI"/>
              </a:rPr>
              <a:t>FORENSICS</a:t>
            </a:r>
          </a:p>
        </p:txBody>
      </p:sp>
      <p:sp>
        <p:nvSpPr>
          <p:cNvPr id="19" name="TextBox 18"/>
          <p:cNvSpPr txBox="1"/>
          <p:nvPr/>
        </p:nvSpPr>
        <p:spPr>
          <a:xfrm>
            <a:off x="8377732" y="2450592"/>
            <a:ext cx="2716682" cy="914400"/>
          </a:xfrm>
          <a:prstGeom prst="rect">
            <a:avLst/>
          </a:prstGeom>
          <a:noFill/>
        </p:spPr>
        <p:txBody>
          <a:bodyPr wrap="square" lIns="0" tIns="0" rIns="0" bIns="0" anchor="t">
            <a:spAutoFit/>
          </a:bodyPr>
          <a:lstStyle/>
          <a:p>
            <a:pPr algn="l">
              <a:lnSpc>
                <a:spcPct val="115000"/>
              </a:lnSpc>
            </a:pPr>
            <a:r>
              <a:rPr sz="1550" b="1" i="0">
                <a:solidFill>
                  <a:srgbClr val="0A0A0A"/>
                </a:solidFill>
                <a:latin typeface="Segoe UI"/>
              </a:rPr>
              <a:t>EXIF · C2PA
deepfake detectors</a:t>
            </a:r>
          </a:p>
        </p:txBody>
      </p:sp>
      <p:sp>
        <p:nvSpPr>
          <p:cNvPr id="20" name="TextBox 19"/>
          <p:cNvSpPr txBox="1"/>
          <p:nvPr/>
        </p:nvSpPr>
        <p:spPr>
          <a:xfrm>
            <a:off x="8377732" y="3611880"/>
            <a:ext cx="2716682" cy="1097280"/>
          </a:xfrm>
          <a:prstGeom prst="rect">
            <a:avLst/>
          </a:prstGeom>
          <a:noFill/>
        </p:spPr>
        <p:txBody>
          <a:bodyPr wrap="square" lIns="0" tIns="0" rIns="0" bIns="0" anchor="t">
            <a:spAutoFit/>
          </a:bodyPr>
          <a:lstStyle/>
          <a:p>
            <a:pPr algn="l">
              <a:lnSpc>
                <a:spcPct val="115000"/>
              </a:lnSpc>
            </a:pPr>
            <a:r>
              <a:rPr sz="1250" b="0" i="0">
                <a:solidFill>
                  <a:srgbClr val="6B7280"/>
                </a:solidFill>
                <a:latin typeface="Segoe UI"/>
              </a:rPr>
              <a:t>The tools exist — but live in
neither the tracker nor the app.</a:t>
            </a:r>
          </a:p>
        </p:txBody>
      </p:sp>
      <p:sp>
        <p:nvSpPr>
          <p:cNvPr id="21" name="Rounded Rectangle 20"/>
          <p:cNvSpPr/>
          <p:nvPr/>
        </p:nvSpPr>
        <p:spPr>
          <a:xfrm>
            <a:off x="841248" y="5074920"/>
            <a:ext cx="10509199" cy="868680"/>
          </a:xfrm>
          <a:prstGeom prst="roundRect">
            <a:avLst>
              <a:gd name="adj" fmla="val 12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700" b="1">
                <a:solidFill>
                  <a:srgbClr val="16A34A"/>
                </a:solidFill>
                <a:latin typeface="Segoe UI"/>
              </a:rPr>
              <a:t>CalorieTrack  </a:t>
            </a:r>
            <a:r>
              <a:rPr sz="1600" b="1">
                <a:solidFill>
                  <a:srgbClr val="FFFFFF"/>
                </a:solidFill>
                <a:latin typeface="Segoe UI"/>
              </a:rPr>
              <a:t>unifies all three — and enforces safety in code, not in a prompt.</a:t>
            </a:r>
          </a:p>
        </p:txBody>
      </p:sp>
      <p:sp>
        <p:nvSpPr>
          <p:cNvPr id="22" name="Rectangle 21"/>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24" name="TextBox 23"/>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07</a:t>
            </a:r>
            <a:r>
              <a:rPr sz="900" b="0" i="0">
                <a:solidFill>
                  <a:srgbClr val="9CA3AF"/>
                </a:solidFill>
                <a:latin typeface="Segoe UI"/>
              </a:rPr>
              <a:t> / 14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ARCHITECTURE</a:t>
            </a:r>
          </a:p>
        </p:txBody>
      </p:sp>
      <p:sp>
        <p:nvSpPr>
          <p:cNvPr id="5" name="TextBox 4"/>
          <p:cNvSpPr txBox="1"/>
          <p:nvPr/>
        </p:nvSpPr>
        <p:spPr>
          <a:xfrm>
            <a:off x="841248" y="932688"/>
            <a:ext cx="10509199" cy="822960"/>
          </a:xfrm>
          <a:prstGeom prst="rect">
            <a:avLst/>
          </a:prstGeom>
          <a:noFill/>
        </p:spPr>
        <p:txBody>
          <a:bodyPr wrap="square" lIns="0" tIns="0" rIns="0" bIns="0" anchor="t">
            <a:spAutoFit/>
          </a:bodyPr>
          <a:lstStyle/>
          <a:p>
            <a:pPr algn="l">
              <a:lnSpc>
                <a:spcPct val="100000"/>
              </a:lnSpc>
            </a:pPr>
            <a:r>
              <a:rPr sz="3000" b="1" i="0">
                <a:solidFill>
                  <a:srgbClr val="0A0A0A"/>
                </a:solidFill>
                <a:latin typeface="Segoe UI"/>
              </a:rPr>
              <a:t>Clean, layered — a domain with zero framework code</a:t>
            </a:r>
          </a:p>
        </p:txBody>
      </p:sp>
      <p:sp>
        <p:nvSpPr>
          <p:cNvPr id="6" name="Rounded Rectangle 5"/>
          <p:cNvSpPr/>
          <p:nvPr/>
        </p:nvSpPr>
        <p:spPr>
          <a:xfrm>
            <a:off x="841248" y="1783080"/>
            <a:ext cx="6936071" cy="841248"/>
          </a:xfrm>
          <a:prstGeom prst="roundRect">
            <a:avLst>
              <a:gd name="adj" fmla="val 6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41248" y="1783080"/>
            <a:ext cx="109728" cy="841248"/>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61288" y="1911095"/>
            <a:ext cx="6478871" cy="365760"/>
          </a:xfrm>
          <a:prstGeom prst="rect">
            <a:avLst/>
          </a:prstGeom>
          <a:noFill/>
        </p:spPr>
        <p:txBody>
          <a:bodyPr wrap="square" lIns="0" tIns="0" rIns="0" bIns="0" anchor="t">
            <a:spAutoFit/>
          </a:bodyPr>
          <a:lstStyle/>
          <a:p>
            <a:pPr algn="l"/>
            <a:r>
              <a:rPr sz="1500" b="1" i="0">
                <a:solidFill>
                  <a:srgbClr val="0A0A0A"/>
                </a:solidFill>
                <a:latin typeface="Segoe UI"/>
              </a:rPr>
              <a:t>PRESENTATION</a:t>
            </a:r>
          </a:p>
        </p:txBody>
      </p:sp>
      <p:sp>
        <p:nvSpPr>
          <p:cNvPr id="9" name="TextBox 8"/>
          <p:cNvSpPr txBox="1"/>
          <p:nvPr/>
        </p:nvSpPr>
        <p:spPr>
          <a:xfrm>
            <a:off x="1161288" y="2240280"/>
            <a:ext cx="6478871" cy="320040"/>
          </a:xfrm>
          <a:prstGeom prst="rect">
            <a:avLst/>
          </a:prstGeom>
          <a:noFill/>
        </p:spPr>
        <p:txBody>
          <a:bodyPr wrap="square" lIns="0" tIns="0" rIns="0" bIns="0" anchor="t">
            <a:spAutoFit/>
          </a:bodyPr>
          <a:lstStyle/>
          <a:p>
            <a:pPr algn="l"/>
            <a:r>
              <a:rPr sz="1250" b="0" i="0">
                <a:solidFill>
                  <a:srgbClr val="6B7280"/>
                </a:solidFill>
                <a:latin typeface="Segoe UI"/>
              </a:rPr>
              <a:t>Screens · view-models · design system</a:t>
            </a:r>
          </a:p>
        </p:txBody>
      </p:sp>
      <p:sp>
        <p:nvSpPr>
          <p:cNvPr id="10" name="Down Arrow 9"/>
          <p:cNvSpPr/>
          <p:nvPr/>
        </p:nvSpPr>
        <p:spPr>
          <a:xfrm>
            <a:off x="4208699" y="2606040"/>
            <a:ext cx="201168" cy="201168"/>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41248" y="2825496"/>
            <a:ext cx="6936071" cy="841248"/>
          </a:xfrm>
          <a:prstGeom prst="roundRect">
            <a:avLst>
              <a:gd name="adj" fmla="val 6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41248" y="2825496"/>
            <a:ext cx="109728" cy="841248"/>
          </a:xfrm>
          <a:prstGeom prst="roundRect">
            <a:avLst>
              <a:gd name="adj" fmla="val 50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61288" y="2953512"/>
            <a:ext cx="6478871" cy="365760"/>
          </a:xfrm>
          <a:prstGeom prst="rect">
            <a:avLst/>
          </a:prstGeom>
          <a:noFill/>
        </p:spPr>
        <p:txBody>
          <a:bodyPr wrap="square" lIns="0" tIns="0" rIns="0" bIns="0" anchor="t">
            <a:spAutoFit/>
          </a:bodyPr>
          <a:lstStyle/>
          <a:p>
            <a:pPr algn="l"/>
            <a:r>
              <a:rPr sz="1500" b="1" i="0">
                <a:solidFill>
                  <a:srgbClr val="0A0A0A"/>
                </a:solidFill>
                <a:latin typeface="Segoe UI"/>
              </a:rPr>
              <a:t>APPLICATION</a:t>
            </a:r>
          </a:p>
        </p:txBody>
      </p:sp>
      <p:sp>
        <p:nvSpPr>
          <p:cNvPr id="14" name="TextBox 13"/>
          <p:cNvSpPr txBox="1"/>
          <p:nvPr/>
        </p:nvSpPr>
        <p:spPr>
          <a:xfrm>
            <a:off x="1161288" y="3282696"/>
            <a:ext cx="6478871" cy="320040"/>
          </a:xfrm>
          <a:prstGeom prst="rect">
            <a:avLst/>
          </a:prstGeom>
          <a:noFill/>
        </p:spPr>
        <p:txBody>
          <a:bodyPr wrap="square" lIns="0" tIns="0" rIns="0" bIns="0" anchor="t">
            <a:spAutoFit/>
          </a:bodyPr>
          <a:lstStyle/>
          <a:p>
            <a:pPr algn="l"/>
            <a:r>
              <a:rPr sz="1250" b="0" i="0">
                <a:solidFill>
                  <a:srgbClr val="6B7280"/>
                </a:solidFill>
                <a:latin typeface="Segoe UI"/>
              </a:rPr>
              <a:t>Use cases · stores · DTOs</a:t>
            </a:r>
          </a:p>
        </p:txBody>
      </p:sp>
      <p:sp>
        <p:nvSpPr>
          <p:cNvPr id="15" name="Down Arrow 14"/>
          <p:cNvSpPr/>
          <p:nvPr/>
        </p:nvSpPr>
        <p:spPr>
          <a:xfrm>
            <a:off x="4208699" y="3648456"/>
            <a:ext cx="201168" cy="201168"/>
          </a:xfrm>
          <a:prstGeom prst="down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41248" y="3867912"/>
            <a:ext cx="6936071" cy="841248"/>
          </a:xfrm>
          <a:prstGeom prst="roundRect">
            <a:avLst>
              <a:gd name="adj" fmla="val 6000"/>
            </a:avLst>
          </a:prstGeom>
          <a:solidFill>
            <a:srgbClr val="ECFDF3"/>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41248" y="3867912"/>
            <a:ext cx="109728" cy="841248"/>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61288" y="3995928"/>
            <a:ext cx="6478871" cy="365760"/>
          </a:xfrm>
          <a:prstGeom prst="rect">
            <a:avLst/>
          </a:prstGeom>
          <a:noFill/>
        </p:spPr>
        <p:txBody>
          <a:bodyPr wrap="square" lIns="0" tIns="0" rIns="0" bIns="0" anchor="t">
            <a:spAutoFit/>
          </a:bodyPr>
          <a:lstStyle/>
          <a:p>
            <a:pPr algn="l"/>
            <a:r>
              <a:rPr sz="1500" b="1" i="0">
                <a:solidFill>
                  <a:srgbClr val="16A34A"/>
                </a:solidFill>
                <a:latin typeface="Segoe UI"/>
              </a:rPr>
              <a:t>DOMAIN</a:t>
            </a:r>
          </a:p>
        </p:txBody>
      </p:sp>
      <p:sp>
        <p:nvSpPr>
          <p:cNvPr id="19" name="TextBox 18"/>
          <p:cNvSpPr txBox="1"/>
          <p:nvPr/>
        </p:nvSpPr>
        <p:spPr>
          <a:xfrm>
            <a:off x="1161288" y="4325112"/>
            <a:ext cx="6478871" cy="320040"/>
          </a:xfrm>
          <a:prstGeom prst="rect">
            <a:avLst/>
          </a:prstGeom>
          <a:noFill/>
        </p:spPr>
        <p:txBody>
          <a:bodyPr wrap="square" lIns="0" tIns="0" rIns="0" bIns="0" anchor="t">
            <a:spAutoFit/>
          </a:bodyPr>
          <a:lstStyle/>
          <a:p>
            <a:pPr algn="l"/>
            <a:r>
              <a:rPr sz="1250" b="0" i="0">
                <a:solidFill>
                  <a:srgbClr val="6B7280"/>
                </a:solidFill>
                <a:latin typeface="Segoe UI"/>
              </a:rPr>
              <a:t>Entities · value objects · rules   —   no Flutter imports</a:t>
            </a:r>
          </a:p>
        </p:txBody>
      </p:sp>
      <p:sp>
        <p:nvSpPr>
          <p:cNvPr id="20" name="Rounded Rectangle 19"/>
          <p:cNvSpPr/>
          <p:nvPr/>
        </p:nvSpPr>
        <p:spPr>
          <a:xfrm>
            <a:off x="8197687" y="1783080"/>
            <a:ext cx="3152759" cy="2926080"/>
          </a:xfrm>
          <a:prstGeom prst="roundRect">
            <a:avLst>
              <a:gd name="adj" fmla="val 5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600"/>
              </a:spcAft>
            </a:pPr>
            <a:r>
              <a:rPr sz="1300" b="1">
                <a:solidFill>
                  <a:srgbClr val="16A34A"/>
                </a:solidFill>
                <a:latin typeface="Segoe UI"/>
              </a:rPr>
              <a:t>INFRASTRUCTURE</a:t>
            </a:r>
          </a:p>
          <a:p>
            <a:pPr algn="l">
              <a:spcAft>
                <a:spcPts val="1000"/>
              </a:spcAft>
            </a:pPr>
            <a:r>
              <a:rPr sz="1050" b="0">
                <a:solidFill>
                  <a:srgbClr val="9CA3AF"/>
                </a:solidFill>
                <a:latin typeface="Segoe UI"/>
              </a:rPr>
              <a:t>implements the domain's interfaces</a:t>
            </a:r>
          </a:p>
          <a:p>
            <a:pPr algn="l">
              <a:spcAft>
                <a:spcPts val="300"/>
              </a:spcAft>
            </a:pPr>
            <a:r>
              <a:rPr sz="1250" b="1">
                <a:solidFill>
                  <a:srgbClr val="FFFFFF"/>
                </a:solidFill>
                <a:latin typeface="Segoe UI"/>
              </a:rPr>
              <a:t>SQLite (sqflite)</a:t>
            </a:r>
          </a:p>
          <a:p>
            <a:pPr algn="l">
              <a:spcAft>
                <a:spcPts val="300"/>
              </a:spcAft>
            </a:pPr>
            <a:r>
              <a:rPr sz="1250" b="1">
                <a:solidFill>
                  <a:srgbClr val="FFFFFF"/>
                </a:solidFill>
                <a:latin typeface="Segoe UI"/>
              </a:rPr>
              <a:t>USDA client</a:t>
            </a:r>
          </a:p>
          <a:p>
            <a:pPr algn="l">
              <a:spcAft>
                <a:spcPts val="300"/>
              </a:spcAft>
            </a:pPr>
            <a:r>
              <a:rPr sz="1250" b="1">
                <a:solidFill>
                  <a:srgbClr val="FFFFFF"/>
                </a:solidFill>
                <a:latin typeface="Segoe UI"/>
              </a:rPr>
              <a:t>OpenAI client</a:t>
            </a:r>
          </a:p>
          <a:p>
            <a:pPr algn="l"/>
            <a:r>
              <a:rPr sz="1250" b="1">
                <a:solidFill>
                  <a:srgbClr val="FFFFFF"/>
                </a:solidFill>
                <a:latin typeface="Segoe UI"/>
              </a:rPr>
              <a:t>PBKDF2 hasher</a:t>
            </a:r>
          </a:p>
        </p:txBody>
      </p:sp>
      <p:sp>
        <p:nvSpPr>
          <p:cNvPr id="21" name="TextBox 20"/>
          <p:cNvSpPr txBox="1"/>
          <p:nvPr/>
        </p:nvSpPr>
        <p:spPr>
          <a:xfrm>
            <a:off x="841248" y="5257800"/>
            <a:ext cx="10509199" cy="822960"/>
          </a:xfrm>
          <a:prstGeom prst="rect">
            <a:avLst/>
          </a:prstGeom>
          <a:noFill/>
        </p:spPr>
        <p:txBody>
          <a:bodyPr wrap="square" lIns="0" tIns="0" rIns="0" bIns="0" anchor="t">
            <a:spAutoFit/>
          </a:bodyPr>
          <a:lstStyle/>
          <a:p>
            <a:pPr algn="l">
              <a:lnSpc>
                <a:spcPct val="115000"/>
              </a:lnSpc>
            </a:pPr>
            <a:r>
              <a:rPr sz="1400" b="1" i="0">
                <a:solidFill>
                  <a:srgbClr val="0A0A0A"/>
                </a:solidFill>
                <a:latin typeface="Segoe UI"/>
              </a:rPr>
              <a:t>Dependencies point inward. </a:t>
            </a:r>
            <a:r>
              <a:rPr sz="1400" b="0" i="0">
                <a:solidFill>
                  <a:srgbClr val="6B7280"/>
                </a:solidFill>
                <a:latin typeface="Segoe UI"/>
              </a:rPr>
              <a:t>The domain knows no database, no HTTP, no Flutter — one composition root wires the concrete pieces in.</a:t>
            </a:r>
          </a:p>
        </p:txBody>
      </p:sp>
      <p:sp>
        <p:nvSpPr>
          <p:cNvPr id="22" name="Rectangle 21"/>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24" name="TextBox 23"/>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08</a:t>
            </a:r>
            <a:r>
              <a:rPr sz="900" b="0" i="0">
                <a:solidFill>
                  <a:srgbClr val="9CA3AF"/>
                </a:solidFill>
                <a:latin typeface="Segoe UI"/>
              </a:rPr>
              <a:t> / 14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THE CORE IDEA</a:t>
            </a:r>
          </a:p>
        </p:txBody>
      </p:sp>
      <p:sp>
        <p:nvSpPr>
          <p:cNvPr id="5" name="TextBox 4"/>
          <p:cNvSpPr txBox="1"/>
          <p:nvPr/>
        </p:nvSpPr>
        <p:spPr>
          <a:xfrm>
            <a:off x="841248" y="932688"/>
            <a:ext cx="10509199" cy="822960"/>
          </a:xfrm>
          <a:prstGeom prst="rect">
            <a:avLst/>
          </a:prstGeom>
          <a:noFill/>
        </p:spPr>
        <p:txBody>
          <a:bodyPr wrap="square" lIns="0" tIns="0" rIns="0" bIns="0" anchor="t">
            <a:spAutoFit/>
          </a:bodyPr>
          <a:lstStyle/>
          <a:p>
            <a:pPr algn="l">
              <a:lnSpc>
                <a:spcPct val="100000"/>
              </a:lnSpc>
            </a:pPr>
            <a:r>
              <a:rPr sz="3000" b="1" i="0">
                <a:solidFill>
                  <a:srgbClr val="0A0A0A"/>
                </a:solidFill>
                <a:latin typeface="Segoe UI"/>
              </a:rPr>
              <a:t>Filter first in code — let the model only rank</a:t>
            </a:r>
          </a:p>
        </p:txBody>
      </p:sp>
      <p:sp>
        <p:nvSpPr>
          <p:cNvPr id="6" name="Rounded Rectangle 5"/>
          <p:cNvSpPr/>
          <p:nvPr/>
        </p:nvSpPr>
        <p:spPr>
          <a:xfrm>
            <a:off x="841248" y="1965960"/>
            <a:ext cx="1847088" cy="1371600"/>
          </a:xfrm>
          <a:prstGeom prst="roundRect">
            <a:avLst>
              <a:gd name="adj" fmla="val 8000"/>
            </a:avLst>
          </a:prstGeom>
          <a:solidFill>
            <a:srgbClr val="F7F7F7"/>
          </a:solidFill>
          <a:ln w="15875">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500"/>
              </a:spcAft>
            </a:pPr>
            <a:r>
              <a:rPr sz="1450" b="1">
                <a:solidFill>
                  <a:srgbClr val="0A0A0A"/>
                </a:solidFill>
                <a:latin typeface="Segoe UI"/>
              </a:rPr>
              <a:t>User context</a:t>
            </a:r>
          </a:p>
          <a:p>
            <a:pPr algn="ctr">
              <a:lnSpc>
                <a:spcPct val="105000"/>
              </a:lnSpc>
            </a:pPr>
            <a:r>
              <a:rPr sz="1100" b="0">
                <a:solidFill>
                  <a:srgbClr val="6B7280"/>
                </a:solidFill>
                <a:latin typeface="Segoe UI"/>
              </a:rPr>
              <a:t>today's meals · goal
wallet · history</a:t>
            </a:r>
          </a:p>
        </p:txBody>
      </p:sp>
      <p:sp>
        <p:nvSpPr>
          <p:cNvPr id="7" name="Right Arrow 6"/>
          <p:cNvSpPr/>
          <p:nvPr/>
        </p:nvSpPr>
        <p:spPr>
          <a:xfrm>
            <a:off x="2746971" y="2560320"/>
            <a:ext cx="219456" cy="1828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06775" y="1965960"/>
            <a:ext cx="1847088" cy="1371600"/>
          </a:xfrm>
          <a:prstGeom prst="roundRect">
            <a:avLst>
              <a:gd name="adj" fmla="val 8000"/>
            </a:avLst>
          </a:prstGeom>
          <a:solidFill>
            <a:srgbClr val="ECFDF3"/>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500"/>
              </a:spcAft>
            </a:pPr>
            <a:r>
              <a:rPr sz="1450" b="1">
                <a:solidFill>
                  <a:srgbClr val="15803D"/>
                </a:solidFill>
                <a:latin typeface="Segoe UI"/>
              </a:rPr>
              <a:t>Filter in Dart</a:t>
            </a:r>
          </a:p>
          <a:p>
            <a:pPr algn="ctr">
              <a:lnSpc>
                <a:spcPct val="105000"/>
              </a:lnSpc>
            </a:pPr>
            <a:r>
              <a:rPr sz="1100" b="0">
                <a:solidFill>
                  <a:srgbClr val="6B7280"/>
                </a:solidFill>
                <a:latin typeface="Segoe UI"/>
              </a:rPr>
              <a:t>drop unsafe:
allergy · diet · budget</a:t>
            </a:r>
          </a:p>
        </p:txBody>
      </p:sp>
      <p:sp>
        <p:nvSpPr>
          <p:cNvPr id="9" name="Right Arrow 8"/>
          <p:cNvSpPr/>
          <p:nvPr/>
        </p:nvSpPr>
        <p:spPr>
          <a:xfrm>
            <a:off x="4912499" y="2560320"/>
            <a:ext cx="219456" cy="1828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172303" y="1965960"/>
            <a:ext cx="1847088" cy="1371600"/>
          </a:xfrm>
          <a:prstGeom prst="roundRect">
            <a:avLst>
              <a:gd name="adj" fmla="val 8000"/>
            </a:avLst>
          </a:prstGeom>
          <a:solidFill>
            <a:srgbClr val="F7F7F7"/>
          </a:solidFill>
          <a:ln w="15875">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500"/>
              </a:spcAft>
            </a:pPr>
            <a:r>
              <a:rPr sz="1450" b="1">
                <a:solidFill>
                  <a:srgbClr val="0A0A0A"/>
                </a:solidFill>
                <a:latin typeface="Segoe UI"/>
              </a:rPr>
              <a:t>Model ranks</a:t>
            </a:r>
          </a:p>
          <a:p>
            <a:pPr algn="ctr">
              <a:lnSpc>
                <a:spcPct val="105000"/>
              </a:lnSpc>
            </a:pPr>
            <a:r>
              <a:rPr sz="1100" b="0">
                <a:solidFill>
                  <a:srgbClr val="6B7280"/>
                </a:solidFill>
                <a:latin typeface="Segoe UI"/>
              </a:rPr>
              <a:t>orders only the
dishes that survived</a:t>
            </a:r>
          </a:p>
        </p:txBody>
      </p:sp>
      <p:sp>
        <p:nvSpPr>
          <p:cNvPr id="11" name="Right Arrow 10"/>
          <p:cNvSpPr/>
          <p:nvPr/>
        </p:nvSpPr>
        <p:spPr>
          <a:xfrm>
            <a:off x="7078027" y="2560320"/>
            <a:ext cx="219456" cy="1828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37831" y="1965960"/>
            <a:ext cx="1847088" cy="1371600"/>
          </a:xfrm>
          <a:prstGeom prst="roundRect">
            <a:avLst>
              <a:gd name="adj" fmla="val 8000"/>
            </a:avLst>
          </a:prstGeom>
          <a:solidFill>
            <a:srgbClr val="F7F7F7"/>
          </a:solidFill>
          <a:ln w="15875">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500"/>
              </a:spcAft>
            </a:pPr>
            <a:r>
              <a:rPr sz="1450" b="1">
                <a:solidFill>
                  <a:srgbClr val="0A0A0A"/>
                </a:solidFill>
                <a:latin typeface="Segoe UI"/>
              </a:rPr>
              <a:t>Validate IDs</a:t>
            </a:r>
          </a:p>
          <a:p>
            <a:pPr algn="ctr">
              <a:lnSpc>
                <a:spcPct val="105000"/>
              </a:lnSpc>
            </a:pPr>
            <a:r>
              <a:rPr sz="1100" b="0">
                <a:solidFill>
                  <a:srgbClr val="6B7280"/>
                </a:solidFill>
                <a:latin typeface="Segoe UI"/>
              </a:rPr>
              <a:t>invented dishes
are thrown away</a:t>
            </a:r>
          </a:p>
        </p:txBody>
      </p:sp>
      <p:sp>
        <p:nvSpPr>
          <p:cNvPr id="13" name="Right Arrow 12"/>
          <p:cNvSpPr/>
          <p:nvPr/>
        </p:nvSpPr>
        <p:spPr>
          <a:xfrm>
            <a:off x="9243555" y="2560320"/>
            <a:ext cx="219456" cy="182880"/>
          </a:xfrm>
          <a:prstGeom prst="rightArrow">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503359" y="1965960"/>
            <a:ext cx="1847088" cy="1371600"/>
          </a:xfrm>
          <a:prstGeom prst="roundRect">
            <a:avLst>
              <a:gd name="adj" fmla="val 8000"/>
            </a:avLst>
          </a:prstGeom>
          <a:solidFill>
            <a:srgbClr val="0A0A0A"/>
          </a:solidFill>
          <a:ln w="15875">
            <a:solidFill>
              <a:srgbClr val="0A0A0A"/>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spcAft>
                <a:spcPts val="500"/>
              </a:spcAft>
            </a:pPr>
            <a:r>
              <a:rPr sz="1450" b="1">
                <a:solidFill>
                  <a:srgbClr val="FFFFFF"/>
                </a:solidFill>
                <a:latin typeface="Segoe UI"/>
              </a:rPr>
              <a:t>4 ranked meals</a:t>
            </a:r>
          </a:p>
          <a:p>
            <a:pPr algn="ctr">
              <a:lnSpc>
                <a:spcPct val="105000"/>
              </a:lnSpc>
            </a:pPr>
            <a:r>
              <a:rPr sz="1100" b="0">
                <a:solidFill>
                  <a:srgbClr val="9CA3AF"/>
                </a:solidFill>
                <a:latin typeface="Segoe UI"/>
              </a:rPr>
              <a:t>with a one-line
reason each</a:t>
            </a:r>
          </a:p>
        </p:txBody>
      </p:sp>
      <p:sp>
        <p:nvSpPr>
          <p:cNvPr id="15" name="Rounded Rectangle 14"/>
          <p:cNvSpPr/>
          <p:nvPr/>
        </p:nvSpPr>
        <p:spPr>
          <a:xfrm>
            <a:off x="841248" y="4160520"/>
            <a:ext cx="10509199" cy="1600200"/>
          </a:xfrm>
          <a:prstGeom prst="roundRect">
            <a:avLst>
              <a:gd name="adj" fmla="val 5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spcAft>
                <a:spcPts val="800"/>
              </a:spcAft>
            </a:pPr>
            <a:r>
              <a:rPr sz="1600" b="1" dirty="0">
                <a:solidFill>
                  <a:srgbClr val="0A0A0A"/>
                </a:solidFill>
                <a:latin typeface="Segoe UI"/>
              </a:rPr>
              <a:t>The constraint is a structural guarantee</a:t>
            </a:r>
            <a:r>
              <a:rPr lang="en-US" sz="1600" b="1" dirty="0">
                <a:solidFill>
                  <a:srgbClr val="0A0A0A"/>
                </a:solidFill>
                <a:latin typeface="Segoe UI"/>
              </a:rPr>
              <a:t>.</a:t>
            </a:r>
            <a:endParaRPr sz="1600" b="1" dirty="0">
              <a:solidFill>
                <a:srgbClr val="0A0A0A"/>
              </a:solidFill>
              <a:latin typeface="Segoe UI"/>
            </a:endParaRPr>
          </a:p>
          <a:p>
            <a:pPr algn="l">
              <a:lnSpc>
                <a:spcPct val="120000"/>
              </a:lnSpc>
            </a:pPr>
            <a:r>
              <a:rPr sz="1350" b="0" dirty="0">
                <a:solidFill>
                  <a:srgbClr val="6B7280"/>
                </a:solidFill>
                <a:latin typeface="Segoe UI"/>
              </a:rPr>
              <a:t>temperature 0 · seed derived from the request · strict JSON schema  →  the same situation always yields the same suggestions. A dish that isn't on the menu — or that breaks an allergy — can never reach the screen.</a:t>
            </a:r>
          </a:p>
        </p:txBody>
      </p:sp>
      <p:sp>
        <p:nvSpPr>
          <p:cNvPr id="16" name="Rectangle 15"/>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18" name="TextBox 17"/>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09</a:t>
            </a:r>
            <a:r>
              <a:rPr sz="900" b="0" i="0">
                <a:solidFill>
                  <a:srgbClr val="9CA3AF"/>
                </a:solidFill>
                <a:latin typeface="Segoe UI"/>
              </a:rPr>
              <a:t> / 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PROBLEM → SOLUTION</a:t>
            </a:r>
          </a:p>
        </p:txBody>
      </p:sp>
      <p:sp>
        <p:nvSpPr>
          <p:cNvPr id="5" name="TextBox 4"/>
          <p:cNvSpPr txBox="1"/>
          <p:nvPr/>
        </p:nvSpPr>
        <p:spPr>
          <a:xfrm>
            <a:off x="841248" y="960120"/>
            <a:ext cx="10509199" cy="457200"/>
          </a:xfrm>
          <a:prstGeom prst="rect">
            <a:avLst/>
          </a:prstGeom>
          <a:noFill/>
        </p:spPr>
        <p:txBody>
          <a:bodyPr wrap="square" lIns="0" tIns="0" rIns="0" bIns="0" anchor="t">
            <a:spAutoFit/>
          </a:bodyPr>
          <a:lstStyle/>
          <a:p>
            <a:pPr algn="l"/>
            <a:r>
              <a:rPr sz="2600" b="1" i="0">
                <a:solidFill>
                  <a:srgbClr val="0A0A0A"/>
                </a:solidFill>
                <a:latin typeface="Segoe UI"/>
              </a:rPr>
              <a:t>USDA is accurate — and overwhelming</a:t>
            </a:r>
          </a:p>
        </p:txBody>
      </p:sp>
      <p:sp>
        <p:nvSpPr>
          <p:cNvPr id="6" name="Rounded Rectangle 5"/>
          <p:cNvSpPr/>
          <p:nvPr/>
        </p:nvSpPr>
        <p:spPr>
          <a:xfrm>
            <a:off x="841248" y="1874519"/>
            <a:ext cx="4980279" cy="3383280"/>
          </a:xfrm>
          <a:prstGeom prst="roundRect">
            <a:avLst>
              <a:gd name="adj" fmla="val 5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61288" y="2148840"/>
            <a:ext cx="4340199" cy="365760"/>
          </a:xfrm>
          <a:prstGeom prst="rect">
            <a:avLst/>
          </a:prstGeom>
          <a:noFill/>
        </p:spPr>
        <p:txBody>
          <a:bodyPr wrap="square" lIns="0" tIns="0" rIns="0" bIns="0" anchor="t">
            <a:spAutoFit/>
          </a:bodyPr>
          <a:lstStyle/>
          <a:p>
            <a:pPr algn="l"/>
            <a:r>
              <a:rPr sz="1300" b="1" i="0">
                <a:solidFill>
                  <a:srgbClr val="6B7280"/>
                </a:solidFill>
                <a:latin typeface="Segoe UI"/>
              </a:rPr>
              <a:t>PROBLEM</a:t>
            </a:r>
          </a:p>
        </p:txBody>
      </p:sp>
      <p:sp>
        <p:nvSpPr>
          <p:cNvPr id="8" name="TextBox 7"/>
          <p:cNvSpPr txBox="1"/>
          <p:nvPr/>
        </p:nvSpPr>
        <p:spPr>
          <a:xfrm>
            <a:off x="1161288" y="2697480"/>
            <a:ext cx="4340199" cy="2377440"/>
          </a:xfrm>
          <a:prstGeom prst="rect">
            <a:avLst/>
          </a:prstGeom>
          <a:noFill/>
        </p:spPr>
        <p:txBody>
          <a:bodyPr wrap="square" lIns="0" tIns="0" rIns="0" bIns="0" anchor="t">
            <a:spAutoFit/>
          </a:bodyPr>
          <a:lstStyle/>
          <a:p>
            <a:pPr algn="l">
              <a:lnSpc>
                <a:spcPct val="125000"/>
              </a:lnSpc>
            </a:pPr>
            <a:r>
              <a:rPr sz="1700" b="0" i="0">
                <a:solidFill>
                  <a:srgbClr val="0A0A0A"/>
                </a:solidFill>
                <a:latin typeface="Segoe UI"/>
              </a:rPr>
              <a:t>Search “chicken” across 300,000+ USDA foods and the first hits were oils, powders, cakes and juices. Technically matches. Practically useless.</a:t>
            </a:r>
          </a:p>
        </p:txBody>
      </p:sp>
      <p:sp>
        <p:nvSpPr>
          <p:cNvPr id="9" name="Right Arrow 8"/>
          <p:cNvSpPr/>
          <p:nvPr/>
        </p:nvSpPr>
        <p:spPr>
          <a:xfrm>
            <a:off x="5867247" y="3337560"/>
            <a:ext cx="457200" cy="457200"/>
          </a:xfrm>
          <a:prstGeom prst="rightArrow">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70167" y="1874519"/>
            <a:ext cx="4980279" cy="3383280"/>
          </a:xfrm>
          <a:prstGeom prst="roundRect">
            <a:avLst>
              <a:gd name="adj" fmla="val 5000"/>
            </a:avLst>
          </a:prstGeom>
          <a:solidFill>
            <a:srgbClr val="ECFDF3"/>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90207" y="2148840"/>
            <a:ext cx="4340199" cy="365760"/>
          </a:xfrm>
          <a:prstGeom prst="rect">
            <a:avLst/>
          </a:prstGeom>
          <a:noFill/>
        </p:spPr>
        <p:txBody>
          <a:bodyPr wrap="square" lIns="0" tIns="0" rIns="0" bIns="0" anchor="t">
            <a:spAutoFit/>
          </a:bodyPr>
          <a:lstStyle/>
          <a:p>
            <a:pPr algn="l"/>
            <a:r>
              <a:rPr sz="1300" b="1" i="0">
                <a:solidFill>
                  <a:srgbClr val="15803D"/>
                </a:solidFill>
                <a:latin typeface="Segoe UI"/>
              </a:rPr>
              <a:t>SOLUTION</a:t>
            </a:r>
          </a:p>
        </p:txBody>
      </p:sp>
      <p:sp>
        <p:nvSpPr>
          <p:cNvPr id="12" name="TextBox 11"/>
          <p:cNvSpPr txBox="1"/>
          <p:nvPr/>
        </p:nvSpPr>
        <p:spPr>
          <a:xfrm>
            <a:off x="6690207" y="2697480"/>
            <a:ext cx="4340199" cy="2377440"/>
          </a:xfrm>
          <a:prstGeom prst="rect">
            <a:avLst/>
          </a:prstGeom>
          <a:noFill/>
        </p:spPr>
        <p:txBody>
          <a:bodyPr wrap="square" lIns="0" tIns="0" rIns="0" bIns="0" anchor="t">
            <a:spAutoFit/>
          </a:bodyPr>
          <a:lstStyle/>
          <a:p>
            <a:pPr algn="l">
              <a:lnSpc>
                <a:spcPct val="125000"/>
              </a:lnSpc>
            </a:pPr>
            <a:r>
              <a:rPr sz="1700" b="0" i="0">
                <a:solidFill>
                  <a:srgbClr val="0A0A0A"/>
                </a:solidFill>
                <a:latin typeface="Segoe UI"/>
              </a:rPr>
              <a:t>A FoodRankingService scores every result by how well the name matches, and penalises derivatives — oil, powder, cake, syrup, juice. The food you actually meant floats to the top.</a:t>
            </a:r>
          </a:p>
        </p:txBody>
      </p:sp>
      <p:sp>
        <p:nvSpPr>
          <p:cNvPr id="14" name="Rectangle 13"/>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16" name="TextBox 15"/>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10</a:t>
            </a:r>
            <a:r>
              <a:rPr sz="900" b="0" i="0">
                <a:solidFill>
                  <a:srgbClr val="9CA3AF"/>
                </a:solidFill>
                <a:latin typeface="Segoe UI"/>
              </a:rPr>
              <a:t> / 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PROBLEM → SOLUTION</a:t>
            </a:r>
          </a:p>
        </p:txBody>
      </p:sp>
      <p:sp>
        <p:nvSpPr>
          <p:cNvPr id="5" name="TextBox 4"/>
          <p:cNvSpPr txBox="1"/>
          <p:nvPr/>
        </p:nvSpPr>
        <p:spPr>
          <a:xfrm>
            <a:off x="841248" y="960120"/>
            <a:ext cx="10509199" cy="400110"/>
          </a:xfrm>
          <a:prstGeom prst="rect">
            <a:avLst/>
          </a:prstGeom>
          <a:noFill/>
        </p:spPr>
        <p:txBody>
          <a:bodyPr wrap="square" lIns="0" tIns="0" rIns="0" bIns="0" anchor="t">
            <a:spAutoFit/>
          </a:bodyPr>
          <a:lstStyle/>
          <a:p>
            <a:pPr algn="l"/>
            <a:r>
              <a:rPr sz="2600" b="1" i="0" dirty="0">
                <a:solidFill>
                  <a:srgbClr val="0A0A0A"/>
                </a:solidFill>
                <a:latin typeface="Segoe UI"/>
              </a:rPr>
              <a:t>You can't order from two </a:t>
            </a:r>
            <a:r>
              <a:rPr lang="en-US" sz="2600" b="1" i="0" dirty="0">
                <a:solidFill>
                  <a:srgbClr val="0A0A0A"/>
                </a:solidFill>
                <a:latin typeface="Segoe UI"/>
              </a:rPr>
              <a:t>restaurants</a:t>
            </a:r>
            <a:r>
              <a:rPr sz="2600" b="1" i="0" dirty="0">
                <a:solidFill>
                  <a:srgbClr val="0A0A0A"/>
                </a:solidFill>
                <a:latin typeface="Segoe UI"/>
              </a:rPr>
              <a:t> at once</a:t>
            </a:r>
          </a:p>
        </p:txBody>
      </p:sp>
      <p:sp>
        <p:nvSpPr>
          <p:cNvPr id="6" name="Rounded Rectangle 5"/>
          <p:cNvSpPr/>
          <p:nvPr/>
        </p:nvSpPr>
        <p:spPr>
          <a:xfrm>
            <a:off x="841248" y="1874519"/>
            <a:ext cx="4980279" cy="3383280"/>
          </a:xfrm>
          <a:prstGeom prst="roundRect">
            <a:avLst>
              <a:gd name="adj" fmla="val 5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61288" y="2148840"/>
            <a:ext cx="4340199" cy="365760"/>
          </a:xfrm>
          <a:prstGeom prst="rect">
            <a:avLst/>
          </a:prstGeom>
          <a:noFill/>
        </p:spPr>
        <p:txBody>
          <a:bodyPr wrap="square" lIns="0" tIns="0" rIns="0" bIns="0" anchor="t">
            <a:spAutoFit/>
          </a:bodyPr>
          <a:lstStyle/>
          <a:p>
            <a:pPr algn="l"/>
            <a:r>
              <a:rPr sz="1300" b="1" i="0">
                <a:solidFill>
                  <a:srgbClr val="6B7280"/>
                </a:solidFill>
                <a:latin typeface="Segoe UI"/>
              </a:rPr>
              <a:t>PROBLEM</a:t>
            </a:r>
          </a:p>
        </p:txBody>
      </p:sp>
      <p:sp>
        <p:nvSpPr>
          <p:cNvPr id="8" name="TextBox 7"/>
          <p:cNvSpPr txBox="1"/>
          <p:nvPr/>
        </p:nvSpPr>
        <p:spPr>
          <a:xfrm>
            <a:off x="1161288" y="2697480"/>
            <a:ext cx="4340199" cy="2377440"/>
          </a:xfrm>
          <a:prstGeom prst="rect">
            <a:avLst/>
          </a:prstGeom>
          <a:noFill/>
        </p:spPr>
        <p:txBody>
          <a:bodyPr wrap="square" lIns="0" tIns="0" rIns="0" bIns="0" anchor="t">
            <a:spAutoFit/>
          </a:bodyPr>
          <a:lstStyle/>
          <a:p>
            <a:pPr algn="l">
              <a:lnSpc>
                <a:spcPct val="125000"/>
              </a:lnSpc>
            </a:pPr>
            <a:r>
              <a:rPr sz="1700" b="0" i="0">
                <a:solidFill>
                  <a:srgbClr val="0A0A0A"/>
                </a:solidFill>
                <a:latin typeface="Segoe UI"/>
              </a:rPr>
              <a:t>Users tried to add dishes from several restaurants into one cart — an order no single kitchen could ever deliver together.</a:t>
            </a:r>
          </a:p>
        </p:txBody>
      </p:sp>
      <p:sp>
        <p:nvSpPr>
          <p:cNvPr id="9" name="Right Arrow 8"/>
          <p:cNvSpPr/>
          <p:nvPr/>
        </p:nvSpPr>
        <p:spPr>
          <a:xfrm>
            <a:off x="5867247" y="3337560"/>
            <a:ext cx="457200" cy="457200"/>
          </a:xfrm>
          <a:prstGeom prst="rightArrow">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70167" y="1874519"/>
            <a:ext cx="4980279" cy="3383280"/>
          </a:xfrm>
          <a:prstGeom prst="roundRect">
            <a:avLst>
              <a:gd name="adj" fmla="val 5000"/>
            </a:avLst>
          </a:prstGeom>
          <a:solidFill>
            <a:srgbClr val="ECFDF3"/>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90207" y="2148840"/>
            <a:ext cx="4340199" cy="365760"/>
          </a:xfrm>
          <a:prstGeom prst="rect">
            <a:avLst/>
          </a:prstGeom>
          <a:noFill/>
        </p:spPr>
        <p:txBody>
          <a:bodyPr wrap="square" lIns="0" tIns="0" rIns="0" bIns="0" anchor="t">
            <a:spAutoFit/>
          </a:bodyPr>
          <a:lstStyle/>
          <a:p>
            <a:pPr algn="l"/>
            <a:r>
              <a:rPr sz="1300" b="1" i="0">
                <a:solidFill>
                  <a:srgbClr val="15803D"/>
                </a:solidFill>
                <a:latin typeface="Segoe UI"/>
              </a:rPr>
              <a:t>SOLUTION</a:t>
            </a:r>
          </a:p>
        </p:txBody>
      </p:sp>
      <p:sp>
        <p:nvSpPr>
          <p:cNvPr id="12" name="TextBox 11"/>
          <p:cNvSpPr txBox="1"/>
          <p:nvPr/>
        </p:nvSpPr>
        <p:spPr>
          <a:xfrm>
            <a:off x="6690207" y="2697480"/>
            <a:ext cx="4340199" cy="2377440"/>
          </a:xfrm>
          <a:prstGeom prst="rect">
            <a:avLst/>
          </a:prstGeom>
          <a:noFill/>
        </p:spPr>
        <p:txBody>
          <a:bodyPr wrap="square" lIns="0" tIns="0" rIns="0" bIns="0" anchor="t">
            <a:spAutoFit/>
          </a:bodyPr>
          <a:lstStyle/>
          <a:p>
            <a:pPr algn="l">
              <a:lnSpc>
                <a:spcPct val="125000"/>
              </a:lnSpc>
            </a:pPr>
            <a:r>
              <a:rPr sz="1700" b="0" i="0">
                <a:solidFill>
                  <a:srgbClr val="0A0A0A"/>
                </a:solidFill>
                <a:latin typeface="Segoe UI"/>
              </a:rPr>
              <a:t>The cart is bound to one restaurant. Switching asks for confirmation and starts fresh — so checkout stays a single, deliverable, atomic order.</a:t>
            </a:r>
          </a:p>
        </p:txBody>
      </p:sp>
      <p:sp>
        <p:nvSpPr>
          <p:cNvPr id="14" name="Rectangle 13"/>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16" name="TextBox 15"/>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11</a:t>
            </a:r>
            <a:r>
              <a:rPr sz="900" b="0" i="0">
                <a:solidFill>
                  <a:srgbClr val="9CA3AF"/>
                </a:solidFill>
                <a:latin typeface="Segoe UI"/>
              </a:rPr>
              <a:t> / 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COMPLAINT VERIFICATION</a:t>
            </a:r>
          </a:p>
        </p:txBody>
      </p:sp>
      <p:sp>
        <p:nvSpPr>
          <p:cNvPr id="5" name="TextBox 4"/>
          <p:cNvSpPr txBox="1"/>
          <p:nvPr/>
        </p:nvSpPr>
        <p:spPr>
          <a:xfrm>
            <a:off x="841248" y="932688"/>
            <a:ext cx="10509199" cy="822960"/>
          </a:xfrm>
          <a:prstGeom prst="rect">
            <a:avLst/>
          </a:prstGeom>
          <a:noFill/>
        </p:spPr>
        <p:txBody>
          <a:bodyPr wrap="square" lIns="0" tIns="0" rIns="0" bIns="0" anchor="t">
            <a:spAutoFit/>
          </a:bodyPr>
          <a:lstStyle/>
          <a:p>
            <a:pPr algn="l">
              <a:lnSpc>
                <a:spcPct val="100000"/>
              </a:lnSpc>
            </a:pPr>
            <a:r>
              <a:rPr sz="2600" b="1" i="0">
                <a:solidFill>
                  <a:srgbClr val="0A0A0A"/>
                </a:solidFill>
                <a:latin typeface="Segoe UI"/>
              </a:rPr>
              <a:t>How a photo is judged — from the file, not the pixels</a:t>
            </a:r>
          </a:p>
        </p:txBody>
      </p:sp>
      <p:sp>
        <p:nvSpPr>
          <p:cNvPr id="6" name="TextBox 5"/>
          <p:cNvSpPr txBox="1"/>
          <p:nvPr/>
        </p:nvSpPr>
        <p:spPr>
          <a:xfrm>
            <a:off x="841248" y="1536192"/>
            <a:ext cx="10509199" cy="365760"/>
          </a:xfrm>
          <a:prstGeom prst="rect">
            <a:avLst/>
          </a:prstGeom>
          <a:noFill/>
        </p:spPr>
        <p:txBody>
          <a:bodyPr wrap="square" lIns="0" tIns="0" rIns="0" bIns="0" anchor="t">
            <a:spAutoFit/>
          </a:bodyPr>
          <a:lstStyle/>
          <a:p>
            <a:pPr algn="l"/>
            <a:r>
              <a:rPr sz="1300" b="1" i="0">
                <a:solidFill>
                  <a:srgbClr val="0A0A0A"/>
                </a:solidFill>
                <a:latin typeface="Segoe UI"/>
              </a:rPr>
              <a:t>Read: </a:t>
            </a:r>
            <a:r>
              <a:rPr sz="1300" b="0" i="0">
                <a:solidFill>
                  <a:srgbClr val="6B7280"/>
                </a:solidFill>
                <a:latin typeface="Segoe UI"/>
              </a:rPr>
              <a:t>EXIF camera make &amp; model + capture time   ·   software tag   ·   C2PA content credential (byte scan)</a:t>
            </a:r>
          </a:p>
        </p:txBody>
      </p:sp>
      <p:sp>
        <p:nvSpPr>
          <p:cNvPr id="7" name="Rounded Rectangle 6"/>
          <p:cNvSpPr/>
          <p:nvPr/>
        </p:nvSpPr>
        <p:spPr>
          <a:xfrm>
            <a:off x="841248" y="2103120"/>
            <a:ext cx="10509199" cy="749808"/>
          </a:xfrm>
          <a:prstGeom prst="roundRect">
            <a:avLst>
              <a:gd name="adj" fmla="val 6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41248" y="2103120"/>
            <a:ext cx="109728" cy="7498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25296" y="2203703"/>
            <a:ext cx="3291840" cy="548640"/>
          </a:xfrm>
          <a:prstGeom prst="rect">
            <a:avLst/>
          </a:prstGeom>
          <a:noFill/>
        </p:spPr>
        <p:txBody>
          <a:bodyPr wrap="square" lIns="0" tIns="0" rIns="0" bIns="0" anchor="ctr">
            <a:spAutoFit/>
          </a:bodyPr>
          <a:lstStyle/>
          <a:p>
            <a:pPr algn="l"/>
            <a:r>
              <a:rPr sz="1600" b="1" i="0">
                <a:solidFill>
                  <a:srgbClr val="0A0A0A"/>
                </a:solidFill>
                <a:latin typeface="Segoe UI"/>
              </a:rPr>
              <a:t>Likely AI-generated</a:t>
            </a:r>
          </a:p>
        </p:txBody>
      </p:sp>
      <p:sp>
        <p:nvSpPr>
          <p:cNvPr id="10" name="TextBox 9"/>
          <p:cNvSpPr txBox="1"/>
          <p:nvPr/>
        </p:nvSpPr>
        <p:spPr>
          <a:xfrm>
            <a:off x="4590288" y="2203703"/>
            <a:ext cx="5571439" cy="566927"/>
          </a:xfrm>
          <a:prstGeom prst="rect">
            <a:avLst/>
          </a:prstGeom>
          <a:noFill/>
        </p:spPr>
        <p:txBody>
          <a:bodyPr wrap="square" lIns="0" tIns="0" rIns="0" bIns="0" anchor="ctr">
            <a:spAutoFit/>
          </a:bodyPr>
          <a:lstStyle/>
          <a:p>
            <a:pPr algn="l">
              <a:lnSpc>
                <a:spcPct val="105000"/>
              </a:lnSpc>
            </a:pPr>
            <a:r>
              <a:rPr sz="1250" b="0" i="0">
                <a:solidFill>
                  <a:srgbClr val="6B7280"/>
                </a:solidFill>
                <a:latin typeface="Segoe UI"/>
              </a:rPr>
              <a:t>C2PA credential or generator tag found</a:t>
            </a:r>
          </a:p>
        </p:txBody>
      </p:sp>
      <p:sp>
        <p:nvSpPr>
          <p:cNvPr id="11" name="TextBox 10"/>
          <p:cNvSpPr txBox="1"/>
          <p:nvPr/>
        </p:nvSpPr>
        <p:spPr>
          <a:xfrm>
            <a:off x="10207447" y="2203703"/>
            <a:ext cx="1005840" cy="548640"/>
          </a:xfrm>
          <a:prstGeom prst="rect">
            <a:avLst/>
          </a:prstGeom>
          <a:noFill/>
        </p:spPr>
        <p:txBody>
          <a:bodyPr wrap="square" lIns="0" tIns="0" rIns="0" bIns="0" anchor="ctr">
            <a:spAutoFit/>
          </a:bodyPr>
          <a:lstStyle/>
          <a:p>
            <a:pPr algn="r"/>
            <a:r>
              <a:rPr sz="1500" b="1" i="0">
                <a:solidFill>
                  <a:srgbClr val="F59E0B"/>
                </a:solidFill>
                <a:latin typeface="Segoe UI"/>
              </a:rPr>
              <a:t>0.95</a:t>
            </a:r>
          </a:p>
        </p:txBody>
      </p:sp>
      <p:sp>
        <p:nvSpPr>
          <p:cNvPr id="12" name="Rounded Rectangle 11"/>
          <p:cNvSpPr/>
          <p:nvPr/>
        </p:nvSpPr>
        <p:spPr>
          <a:xfrm>
            <a:off x="841248" y="2962656"/>
            <a:ext cx="10509199" cy="749808"/>
          </a:xfrm>
          <a:prstGeom prst="roundRect">
            <a:avLst>
              <a:gd name="adj" fmla="val 6000"/>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41248" y="2962656"/>
            <a:ext cx="109728" cy="749808"/>
          </a:xfrm>
          <a:prstGeom prst="roundRect">
            <a:avLst>
              <a:gd name="adj" fmla="val 5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25296" y="3063239"/>
            <a:ext cx="3291840" cy="548640"/>
          </a:xfrm>
          <a:prstGeom prst="rect">
            <a:avLst/>
          </a:prstGeom>
          <a:noFill/>
        </p:spPr>
        <p:txBody>
          <a:bodyPr wrap="square" lIns="0" tIns="0" rIns="0" bIns="0" anchor="ctr">
            <a:spAutoFit/>
          </a:bodyPr>
          <a:lstStyle/>
          <a:p>
            <a:pPr algn="l"/>
            <a:r>
              <a:rPr sz="1600" b="1" i="0">
                <a:solidFill>
                  <a:srgbClr val="0A0A0A"/>
                </a:solidFill>
                <a:latin typeface="Segoe UI"/>
              </a:rPr>
              <a:t>Possibly edited</a:t>
            </a:r>
          </a:p>
        </p:txBody>
      </p:sp>
      <p:sp>
        <p:nvSpPr>
          <p:cNvPr id="15" name="TextBox 14"/>
          <p:cNvSpPr txBox="1"/>
          <p:nvPr/>
        </p:nvSpPr>
        <p:spPr>
          <a:xfrm>
            <a:off x="4590288" y="3063239"/>
            <a:ext cx="5571439" cy="566927"/>
          </a:xfrm>
          <a:prstGeom prst="rect">
            <a:avLst/>
          </a:prstGeom>
          <a:noFill/>
        </p:spPr>
        <p:txBody>
          <a:bodyPr wrap="square" lIns="0" tIns="0" rIns="0" bIns="0" anchor="ctr">
            <a:spAutoFit/>
          </a:bodyPr>
          <a:lstStyle/>
          <a:p>
            <a:pPr algn="l">
              <a:lnSpc>
                <a:spcPct val="105000"/>
              </a:lnSpc>
            </a:pPr>
            <a:r>
              <a:rPr sz="1250" b="0" i="0">
                <a:solidFill>
                  <a:srgbClr val="6B7280"/>
                </a:solidFill>
                <a:latin typeface="Segoe UI"/>
              </a:rPr>
              <a:t>software tag names a photo editor</a:t>
            </a:r>
          </a:p>
        </p:txBody>
      </p:sp>
      <p:sp>
        <p:nvSpPr>
          <p:cNvPr id="16" name="TextBox 15"/>
          <p:cNvSpPr txBox="1"/>
          <p:nvPr/>
        </p:nvSpPr>
        <p:spPr>
          <a:xfrm>
            <a:off x="10207447" y="3063239"/>
            <a:ext cx="1005840" cy="548640"/>
          </a:xfrm>
          <a:prstGeom prst="rect">
            <a:avLst/>
          </a:prstGeom>
          <a:noFill/>
        </p:spPr>
        <p:txBody>
          <a:bodyPr wrap="square" lIns="0" tIns="0" rIns="0" bIns="0" anchor="ctr">
            <a:spAutoFit/>
          </a:bodyPr>
          <a:lstStyle/>
          <a:p>
            <a:pPr algn="r"/>
            <a:r>
              <a:rPr sz="1500" b="1" i="0">
                <a:solidFill>
                  <a:srgbClr val="6366F1"/>
                </a:solidFill>
                <a:latin typeface="Segoe UI"/>
              </a:rPr>
              <a:t>—</a:t>
            </a:r>
          </a:p>
        </p:txBody>
      </p:sp>
      <p:sp>
        <p:nvSpPr>
          <p:cNvPr id="17" name="Rounded Rectangle 16"/>
          <p:cNvSpPr/>
          <p:nvPr/>
        </p:nvSpPr>
        <p:spPr>
          <a:xfrm>
            <a:off x="841248" y="3822191"/>
            <a:ext cx="10509199" cy="749808"/>
          </a:xfrm>
          <a:prstGeom prst="roundRect">
            <a:avLst>
              <a:gd name="adj" fmla="val 6000"/>
            </a:avLst>
          </a:prstGeom>
          <a:solidFill>
            <a:srgbClr val="F7F7F7"/>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41248" y="3822191"/>
            <a:ext cx="109728" cy="749808"/>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25296" y="3922776"/>
            <a:ext cx="3291840" cy="548640"/>
          </a:xfrm>
          <a:prstGeom prst="rect">
            <a:avLst/>
          </a:prstGeom>
          <a:noFill/>
        </p:spPr>
        <p:txBody>
          <a:bodyPr wrap="square" lIns="0" tIns="0" rIns="0" bIns="0" anchor="ctr">
            <a:spAutoFit/>
          </a:bodyPr>
          <a:lstStyle/>
          <a:p>
            <a:pPr algn="l"/>
            <a:r>
              <a:rPr sz="1600" b="1" i="0">
                <a:solidFill>
                  <a:srgbClr val="0A0A0A"/>
                </a:solidFill>
                <a:latin typeface="Segoe UI"/>
              </a:rPr>
              <a:t>Likely genuine</a:t>
            </a:r>
          </a:p>
        </p:txBody>
      </p:sp>
      <p:sp>
        <p:nvSpPr>
          <p:cNvPr id="20" name="TextBox 19"/>
          <p:cNvSpPr txBox="1"/>
          <p:nvPr/>
        </p:nvSpPr>
        <p:spPr>
          <a:xfrm>
            <a:off x="4590288" y="3922776"/>
            <a:ext cx="5571439" cy="566927"/>
          </a:xfrm>
          <a:prstGeom prst="rect">
            <a:avLst/>
          </a:prstGeom>
          <a:noFill/>
        </p:spPr>
        <p:txBody>
          <a:bodyPr wrap="square" lIns="0" tIns="0" rIns="0" bIns="0" anchor="ctr">
            <a:spAutoFit/>
          </a:bodyPr>
          <a:lstStyle/>
          <a:p>
            <a:pPr algn="l">
              <a:lnSpc>
                <a:spcPct val="105000"/>
              </a:lnSpc>
            </a:pPr>
            <a:r>
              <a:rPr sz="1250" b="0" i="0">
                <a:solidFill>
                  <a:srgbClr val="6B7280"/>
                </a:solidFill>
                <a:latin typeface="Segoe UI"/>
              </a:rPr>
              <a:t>real camera make + model (higher if a capture date is present)</a:t>
            </a:r>
          </a:p>
        </p:txBody>
      </p:sp>
      <p:sp>
        <p:nvSpPr>
          <p:cNvPr id="21" name="TextBox 20"/>
          <p:cNvSpPr txBox="1"/>
          <p:nvPr/>
        </p:nvSpPr>
        <p:spPr>
          <a:xfrm>
            <a:off x="10207447" y="3922776"/>
            <a:ext cx="1005840" cy="548640"/>
          </a:xfrm>
          <a:prstGeom prst="rect">
            <a:avLst/>
          </a:prstGeom>
          <a:noFill/>
        </p:spPr>
        <p:txBody>
          <a:bodyPr wrap="square" lIns="0" tIns="0" rIns="0" bIns="0" anchor="ctr">
            <a:spAutoFit/>
          </a:bodyPr>
          <a:lstStyle/>
          <a:p>
            <a:pPr algn="r"/>
            <a:r>
              <a:rPr sz="1500" b="1" i="0">
                <a:solidFill>
                  <a:srgbClr val="16A34A"/>
                </a:solidFill>
                <a:latin typeface="Segoe UI"/>
              </a:rPr>
              <a:t>—</a:t>
            </a:r>
          </a:p>
        </p:txBody>
      </p:sp>
      <p:sp>
        <p:nvSpPr>
          <p:cNvPr id="22" name="Rounded Rectangle 21"/>
          <p:cNvSpPr/>
          <p:nvPr/>
        </p:nvSpPr>
        <p:spPr>
          <a:xfrm>
            <a:off x="841248" y="4681727"/>
            <a:ext cx="10509199" cy="749808"/>
          </a:xfrm>
          <a:prstGeom prst="roundRect">
            <a:avLst>
              <a:gd name="adj" fmla="val 6000"/>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41248" y="4681727"/>
            <a:ext cx="109728" cy="749808"/>
          </a:xfrm>
          <a:prstGeom prst="roundRect">
            <a:avLst>
              <a:gd name="adj" fmla="val 5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25296" y="4782312"/>
            <a:ext cx="3291840" cy="548640"/>
          </a:xfrm>
          <a:prstGeom prst="rect">
            <a:avLst/>
          </a:prstGeom>
          <a:noFill/>
        </p:spPr>
        <p:txBody>
          <a:bodyPr wrap="square" lIns="0" tIns="0" rIns="0" bIns="0" anchor="ctr">
            <a:spAutoFit/>
          </a:bodyPr>
          <a:lstStyle/>
          <a:p>
            <a:pPr algn="l"/>
            <a:r>
              <a:rPr sz="1600" b="1" i="0">
                <a:solidFill>
                  <a:srgbClr val="0A0A0A"/>
                </a:solidFill>
                <a:latin typeface="Segoe UI"/>
              </a:rPr>
              <a:t>Inconclusive</a:t>
            </a:r>
          </a:p>
        </p:txBody>
      </p:sp>
      <p:sp>
        <p:nvSpPr>
          <p:cNvPr id="25" name="TextBox 24"/>
          <p:cNvSpPr txBox="1"/>
          <p:nvPr/>
        </p:nvSpPr>
        <p:spPr>
          <a:xfrm>
            <a:off x="4590288" y="4782312"/>
            <a:ext cx="5571439" cy="566927"/>
          </a:xfrm>
          <a:prstGeom prst="rect">
            <a:avLst/>
          </a:prstGeom>
          <a:noFill/>
        </p:spPr>
        <p:txBody>
          <a:bodyPr wrap="square" lIns="0" tIns="0" rIns="0" bIns="0" anchor="ctr">
            <a:spAutoFit/>
          </a:bodyPr>
          <a:lstStyle/>
          <a:p>
            <a:pPr algn="l">
              <a:lnSpc>
                <a:spcPct val="105000"/>
              </a:lnSpc>
            </a:pPr>
            <a:r>
              <a:rPr sz="1250" b="0" i="0">
                <a:solidFill>
                  <a:srgbClr val="6B7280"/>
                </a:solidFill>
                <a:latin typeface="Segoe UI"/>
              </a:rPr>
              <a:t>no usable signal — metadata can be stripped, so this is not “genuine”</a:t>
            </a:r>
          </a:p>
        </p:txBody>
      </p:sp>
      <p:sp>
        <p:nvSpPr>
          <p:cNvPr id="26" name="TextBox 25"/>
          <p:cNvSpPr txBox="1"/>
          <p:nvPr/>
        </p:nvSpPr>
        <p:spPr>
          <a:xfrm>
            <a:off x="10207447" y="4782312"/>
            <a:ext cx="1005840" cy="548640"/>
          </a:xfrm>
          <a:prstGeom prst="rect">
            <a:avLst/>
          </a:prstGeom>
          <a:noFill/>
        </p:spPr>
        <p:txBody>
          <a:bodyPr wrap="square" lIns="0" tIns="0" rIns="0" bIns="0" anchor="ctr">
            <a:spAutoFit/>
          </a:bodyPr>
          <a:lstStyle/>
          <a:p>
            <a:pPr algn="r"/>
            <a:r>
              <a:rPr sz="1500" b="1" i="0">
                <a:solidFill>
                  <a:srgbClr val="6B7280"/>
                </a:solidFill>
                <a:latin typeface="Segoe UI"/>
              </a:rPr>
              <a:t>0.40</a:t>
            </a:r>
          </a:p>
        </p:txBody>
      </p:sp>
      <p:sp>
        <p:nvSpPr>
          <p:cNvPr id="27" name="TextBox 26"/>
          <p:cNvSpPr txBox="1"/>
          <p:nvPr/>
        </p:nvSpPr>
        <p:spPr>
          <a:xfrm>
            <a:off x="841248" y="5806440"/>
            <a:ext cx="10509199" cy="548640"/>
          </a:xfrm>
          <a:prstGeom prst="rect">
            <a:avLst/>
          </a:prstGeom>
          <a:noFill/>
        </p:spPr>
        <p:txBody>
          <a:bodyPr wrap="square" lIns="0" tIns="0" rIns="0" bIns="0" anchor="t">
            <a:spAutoFit/>
          </a:bodyPr>
          <a:lstStyle/>
          <a:p>
            <a:pPr algn="l">
              <a:lnSpc>
                <a:spcPct val="115000"/>
              </a:lnSpc>
            </a:pPr>
            <a:r>
              <a:rPr sz="1250" b="1" i="0">
                <a:solidFill>
                  <a:srgbClr val="0A0A0A"/>
                </a:solidFill>
                <a:latin typeface="Segoe UI"/>
              </a:rPr>
              <a:t>Deterministic — same file, same verdict. </a:t>
            </a:r>
            <a:r>
              <a:rPr sz="1250" b="0" i="0">
                <a:solidFill>
                  <a:srgbClr val="6B7280"/>
                </a:solidFill>
                <a:latin typeface="Segoe UI"/>
              </a:rPr>
              <a:t>The model never sees the image; it only puts the verdict into words. A missing signal is a reason to abstain, not to accuse.</a:t>
            </a:r>
          </a:p>
        </p:txBody>
      </p:sp>
      <p:sp>
        <p:nvSpPr>
          <p:cNvPr id="28" name="Rectangle 27"/>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30" name="TextBox 29"/>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12</a:t>
            </a:r>
            <a:r>
              <a:rPr sz="900" b="0" i="0">
                <a:solidFill>
                  <a:srgbClr val="9CA3AF"/>
                </a:solidFill>
                <a:latin typeface="Segoe UI"/>
              </a:rPr>
              <a:t> / 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41248" y="566928"/>
            <a:ext cx="292608" cy="10058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25296" y="457200"/>
            <a:ext cx="10125151" cy="365760"/>
          </a:xfrm>
          <a:prstGeom prst="rect">
            <a:avLst/>
          </a:prstGeom>
          <a:noFill/>
        </p:spPr>
        <p:txBody>
          <a:bodyPr wrap="square" lIns="0" tIns="0" rIns="0" bIns="0" anchor="ctr">
            <a:spAutoFit/>
          </a:bodyPr>
          <a:lstStyle/>
          <a:p>
            <a:pPr algn="l"/>
            <a:r>
              <a:rPr sz="1250" b="1" i="0">
                <a:solidFill>
                  <a:srgbClr val="16A34A"/>
                </a:solidFill>
                <a:latin typeface="Segoe UI"/>
              </a:rPr>
              <a:t>CONTRIBUTIONS</a:t>
            </a:r>
          </a:p>
        </p:txBody>
      </p:sp>
      <p:sp>
        <p:nvSpPr>
          <p:cNvPr id="5" name="TextBox 4"/>
          <p:cNvSpPr txBox="1"/>
          <p:nvPr/>
        </p:nvSpPr>
        <p:spPr>
          <a:xfrm>
            <a:off x="841248" y="932688"/>
            <a:ext cx="10509199" cy="822960"/>
          </a:xfrm>
          <a:prstGeom prst="rect">
            <a:avLst/>
          </a:prstGeom>
          <a:noFill/>
        </p:spPr>
        <p:txBody>
          <a:bodyPr wrap="square" lIns="0" tIns="0" rIns="0" bIns="0" anchor="t">
            <a:spAutoFit/>
          </a:bodyPr>
          <a:lstStyle/>
          <a:p>
            <a:pPr algn="l">
              <a:lnSpc>
                <a:spcPct val="100000"/>
              </a:lnSpc>
            </a:pPr>
            <a:r>
              <a:rPr sz="3000" b="1" i="0">
                <a:solidFill>
                  <a:srgbClr val="0A0A0A"/>
                </a:solidFill>
                <a:latin typeface="Segoe UI"/>
              </a:rPr>
              <a:t>Three decisions that make it trustworthy</a:t>
            </a:r>
          </a:p>
        </p:txBody>
      </p:sp>
      <p:sp>
        <p:nvSpPr>
          <p:cNvPr id="6" name="TextBox 5"/>
          <p:cNvSpPr txBox="1"/>
          <p:nvPr/>
        </p:nvSpPr>
        <p:spPr>
          <a:xfrm>
            <a:off x="841248" y="1874519"/>
            <a:ext cx="1371600" cy="1234440"/>
          </a:xfrm>
          <a:prstGeom prst="rect">
            <a:avLst/>
          </a:prstGeom>
          <a:noFill/>
        </p:spPr>
        <p:txBody>
          <a:bodyPr wrap="square" lIns="0" tIns="0" rIns="0" bIns="0" anchor="ctr">
            <a:spAutoFit/>
          </a:bodyPr>
          <a:lstStyle/>
          <a:p>
            <a:pPr algn="l"/>
            <a:r>
              <a:rPr sz="4600" b="1" i="0">
                <a:solidFill>
                  <a:srgbClr val="16A34A"/>
                </a:solidFill>
                <a:latin typeface="Segoe UI"/>
              </a:rPr>
              <a:t>01</a:t>
            </a:r>
          </a:p>
        </p:txBody>
      </p:sp>
      <p:sp>
        <p:nvSpPr>
          <p:cNvPr id="7" name="TextBox 6"/>
          <p:cNvSpPr txBox="1"/>
          <p:nvPr/>
        </p:nvSpPr>
        <p:spPr>
          <a:xfrm>
            <a:off x="2350008" y="2020824"/>
            <a:ext cx="8863279" cy="457200"/>
          </a:xfrm>
          <a:prstGeom prst="rect">
            <a:avLst/>
          </a:prstGeom>
          <a:noFill/>
        </p:spPr>
        <p:txBody>
          <a:bodyPr wrap="square" lIns="0" tIns="0" rIns="0" bIns="0" anchor="t">
            <a:spAutoFit/>
          </a:bodyPr>
          <a:lstStyle/>
          <a:p>
            <a:pPr algn="l"/>
            <a:r>
              <a:rPr sz="2100" b="1" i="0">
                <a:solidFill>
                  <a:srgbClr val="0A0A0A"/>
                </a:solidFill>
                <a:latin typeface="Segoe UI"/>
              </a:rPr>
              <a:t>Ordering = logging</a:t>
            </a:r>
          </a:p>
        </p:txBody>
      </p:sp>
      <p:sp>
        <p:nvSpPr>
          <p:cNvPr id="8" name="TextBox 7"/>
          <p:cNvSpPr txBox="1"/>
          <p:nvPr/>
        </p:nvSpPr>
        <p:spPr>
          <a:xfrm>
            <a:off x="2368296" y="2496312"/>
            <a:ext cx="8771839" cy="548640"/>
          </a:xfrm>
          <a:prstGeom prst="rect">
            <a:avLst/>
          </a:prstGeom>
          <a:noFill/>
        </p:spPr>
        <p:txBody>
          <a:bodyPr wrap="square" lIns="0" tIns="0" rIns="0" bIns="0" anchor="t">
            <a:spAutoFit/>
          </a:bodyPr>
          <a:lstStyle/>
          <a:p>
            <a:pPr algn="l">
              <a:lnSpc>
                <a:spcPct val="115000"/>
              </a:lnSpc>
            </a:pPr>
            <a:r>
              <a:rPr sz="1400" b="0" i="0">
                <a:solidFill>
                  <a:srgbClr val="6B7280"/>
                </a:solidFill>
                <a:latin typeface="Segoe UI"/>
              </a:rPr>
              <a:t>One atomic transaction writes the order, debits the wallet and logs every item. The daily totals can't drift.</a:t>
            </a:r>
          </a:p>
        </p:txBody>
      </p:sp>
      <p:sp>
        <p:nvSpPr>
          <p:cNvPr id="9" name="TextBox 8"/>
          <p:cNvSpPr txBox="1"/>
          <p:nvPr/>
        </p:nvSpPr>
        <p:spPr>
          <a:xfrm>
            <a:off x="841248" y="3154680"/>
            <a:ext cx="1371600" cy="1234440"/>
          </a:xfrm>
          <a:prstGeom prst="rect">
            <a:avLst/>
          </a:prstGeom>
          <a:noFill/>
        </p:spPr>
        <p:txBody>
          <a:bodyPr wrap="square" lIns="0" tIns="0" rIns="0" bIns="0" anchor="ctr">
            <a:spAutoFit/>
          </a:bodyPr>
          <a:lstStyle/>
          <a:p>
            <a:pPr algn="l"/>
            <a:r>
              <a:rPr sz="4600" b="1" i="0">
                <a:solidFill>
                  <a:srgbClr val="16A34A"/>
                </a:solidFill>
                <a:latin typeface="Segoe UI"/>
              </a:rPr>
              <a:t>02</a:t>
            </a:r>
          </a:p>
        </p:txBody>
      </p:sp>
      <p:sp>
        <p:nvSpPr>
          <p:cNvPr id="10" name="TextBox 9"/>
          <p:cNvSpPr txBox="1"/>
          <p:nvPr/>
        </p:nvSpPr>
        <p:spPr>
          <a:xfrm>
            <a:off x="2350008" y="3300984"/>
            <a:ext cx="8863279" cy="457200"/>
          </a:xfrm>
          <a:prstGeom prst="rect">
            <a:avLst/>
          </a:prstGeom>
          <a:noFill/>
        </p:spPr>
        <p:txBody>
          <a:bodyPr wrap="square" lIns="0" tIns="0" rIns="0" bIns="0" anchor="t">
            <a:spAutoFit/>
          </a:bodyPr>
          <a:lstStyle/>
          <a:p>
            <a:pPr algn="l"/>
            <a:r>
              <a:rPr sz="2100" b="1" i="0">
                <a:solidFill>
                  <a:srgbClr val="0A0A0A"/>
                </a:solidFill>
                <a:latin typeface="Segoe UI"/>
              </a:rPr>
              <a:t>Safety by architecture</a:t>
            </a:r>
          </a:p>
        </p:txBody>
      </p:sp>
      <p:sp>
        <p:nvSpPr>
          <p:cNvPr id="11" name="TextBox 10"/>
          <p:cNvSpPr txBox="1"/>
          <p:nvPr/>
        </p:nvSpPr>
        <p:spPr>
          <a:xfrm>
            <a:off x="2368296" y="3776472"/>
            <a:ext cx="8771839" cy="548640"/>
          </a:xfrm>
          <a:prstGeom prst="rect">
            <a:avLst/>
          </a:prstGeom>
          <a:noFill/>
        </p:spPr>
        <p:txBody>
          <a:bodyPr wrap="square" lIns="0" tIns="0" rIns="0" bIns="0" anchor="t">
            <a:spAutoFit/>
          </a:bodyPr>
          <a:lstStyle/>
          <a:p>
            <a:pPr algn="l">
              <a:lnSpc>
                <a:spcPct val="115000"/>
              </a:lnSpc>
            </a:pPr>
            <a:r>
              <a:rPr sz="1400" b="0" i="0">
                <a:solidFill>
                  <a:srgbClr val="6B7280"/>
                </a:solidFill>
                <a:latin typeface="Segoe UI"/>
              </a:rPr>
              <a:t>AI recommendations enforce allergies, diet and budget in code — and are reproducible, not random.</a:t>
            </a:r>
          </a:p>
        </p:txBody>
      </p:sp>
      <p:sp>
        <p:nvSpPr>
          <p:cNvPr id="12" name="TextBox 11"/>
          <p:cNvSpPr txBox="1"/>
          <p:nvPr/>
        </p:nvSpPr>
        <p:spPr>
          <a:xfrm>
            <a:off x="841248" y="4434840"/>
            <a:ext cx="1371600" cy="1234440"/>
          </a:xfrm>
          <a:prstGeom prst="rect">
            <a:avLst/>
          </a:prstGeom>
          <a:noFill/>
        </p:spPr>
        <p:txBody>
          <a:bodyPr wrap="square" lIns="0" tIns="0" rIns="0" bIns="0" anchor="ctr">
            <a:spAutoFit/>
          </a:bodyPr>
          <a:lstStyle/>
          <a:p>
            <a:pPr algn="l"/>
            <a:r>
              <a:rPr sz="4600" b="1" i="0">
                <a:solidFill>
                  <a:srgbClr val="16A34A"/>
                </a:solidFill>
                <a:latin typeface="Segoe UI"/>
              </a:rPr>
              <a:t>03</a:t>
            </a:r>
          </a:p>
        </p:txBody>
      </p:sp>
      <p:sp>
        <p:nvSpPr>
          <p:cNvPr id="13" name="TextBox 12"/>
          <p:cNvSpPr txBox="1"/>
          <p:nvPr/>
        </p:nvSpPr>
        <p:spPr>
          <a:xfrm>
            <a:off x="2350008" y="4581144"/>
            <a:ext cx="8863279" cy="457200"/>
          </a:xfrm>
          <a:prstGeom prst="rect">
            <a:avLst/>
          </a:prstGeom>
          <a:noFill/>
        </p:spPr>
        <p:txBody>
          <a:bodyPr wrap="square" lIns="0" tIns="0" rIns="0" bIns="0" anchor="t">
            <a:spAutoFit/>
          </a:bodyPr>
          <a:lstStyle/>
          <a:p>
            <a:pPr algn="l"/>
            <a:r>
              <a:rPr sz="2100" b="1" i="0">
                <a:solidFill>
                  <a:srgbClr val="0A0A0A"/>
                </a:solidFill>
                <a:latin typeface="Segoe UI"/>
              </a:rPr>
              <a:t>Verifiable evidence</a:t>
            </a:r>
          </a:p>
        </p:txBody>
      </p:sp>
      <p:sp>
        <p:nvSpPr>
          <p:cNvPr id="14" name="TextBox 13"/>
          <p:cNvSpPr txBox="1"/>
          <p:nvPr/>
        </p:nvSpPr>
        <p:spPr>
          <a:xfrm>
            <a:off x="2368296" y="5056632"/>
            <a:ext cx="8771839" cy="548640"/>
          </a:xfrm>
          <a:prstGeom prst="rect">
            <a:avLst/>
          </a:prstGeom>
          <a:noFill/>
        </p:spPr>
        <p:txBody>
          <a:bodyPr wrap="square" lIns="0" tIns="0" rIns="0" bIns="0" anchor="t">
            <a:spAutoFit/>
          </a:bodyPr>
          <a:lstStyle/>
          <a:p>
            <a:pPr algn="l">
              <a:lnSpc>
                <a:spcPct val="115000"/>
              </a:lnSpc>
            </a:pPr>
            <a:r>
              <a:rPr sz="1400" b="0" i="0">
                <a:solidFill>
                  <a:srgbClr val="6B7280"/>
                </a:solidFill>
                <a:latin typeface="Segoe UI"/>
              </a:rPr>
              <a:t>Complaint photos judged deterministically from the file; the model never sees the image.</a:t>
            </a:r>
          </a:p>
        </p:txBody>
      </p:sp>
      <p:sp>
        <p:nvSpPr>
          <p:cNvPr id="15" name="Rectangle 14"/>
          <p:cNvSpPr/>
          <p:nvPr/>
        </p:nvSpPr>
        <p:spPr>
          <a:xfrm>
            <a:off x="841248" y="6419088"/>
            <a:ext cx="10509199" cy="11887"/>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 y="6473952"/>
            <a:ext cx="7356439" cy="274320"/>
          </a:xfrm>
          <a:prstGeom prst="rect">
            <a:avLst/>
          </a:prstGeom>
          <a:noFill/>
        </p:spPr>
        <p:txBody>
          <a:bodyPr wrap="square" lIns="0" tIns="0" rIns="0" bIns="0" anchor="ctr">
            <a:spAutoFit/>
          </a:bodyPr>
          <a:lstStyle/>
          <a:p>
            <a:pPr algn="l"/>
            <a:r>
              <a:rPr sz="900" b="1" i="0">
                <a:solidFill>
                  <a:srgbClr val="6B7280"/>
                </a:solidFill>
                <a:latin typeface="Segoe UI"/>
              </a:rPr>
              <a:t>CalorieTrack</a:t>
            </a:r>
            <a:r>
              <a:rPr sz="900" b="0" i="0">
                <a:solidFill>
                  <a:srgbClr val="9CA3AF"/>
                </a:solidFill>
                <a:latin typeface="Segoe UI"/>
              </a:rPr>
              <a:t>   ·   Chis Denis</a:t>
            </a:r>
          </a:p>
        </p:txBody>
      </p:sp>
      <p:sp>
        <p:nvSpPr>
          <p:cNvPr id="17" name="TextBox 16"/>
          <p:cNvSpPr txBox="1"/>
          <p:nvPr/>
        </p:nvSpPr>
        <p:spPr>
          <a:xfrm>
            <a:off x="6095847" y="6473952"/>
            <a:ext cx="5254599" cy="274320"/>
          </a:xfrm>
          <a:prstGeom prst="rect">
            <a:avLst/>
          </a:prstGeom>
          <a:noFill/>
        </p:spPr>
        <p:txBody>
          <a:bodyPr wrap="square" lIns="0" tIns="0" rIns="0" bIns="0" anchor="ctr">
            <a:spAutoFit/>
          </a:bodyPr>
          <a:lstStyle/>
          <a:p>
            <a:pPr algn="r"/>
            <a:r>
              <a:rPr sz="900" b="1" i="0">
                <a:solidFill>
                  <a:srgbClr val="6B7280"/>
                </a:solidFill>
                <a:latin typeface="Segoe UI"/>
              </a:rPr>
              <a:t>13</a:t>
            </a:r>
            <a:r>
              <a:rPr sz="900" b="0" i="0">
                <a:solidFill>
                  <a:srgbClr val="9CA3AF"/>
                </a:solidFill>
                <a:latin typeface="Segoe UI"/>
              </a:rPr>
              <a:t> /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201168" cy="68580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41248" y="2148840"/>
            <a:ext cx="10509199" cy="1280160"/>
          </a:xfrm>
          <a:prstGeom prst="rect">
            <a:avLst/>
          </a:prstGeom>
          <a:noFill/>
        </p:spPr>
        <p:txBody>
          <a:bodyPr wrap="square" lIns="0" tIns="0" rIns="0" bIns="0" anchor="t">
            <a:spAutoFit/>
          </a:bodyPr>
          <a:lstStyle/>
          <a:p>
            <a:pPr algn="l"/>
            <a:r>
              <a:rPr sz="6000" b="1" i="0">
                <a:solidFill>
                  <a:srgbClr val="FFFFFF"/>
                </a:solidFill>
                <a:latin typeface="Segoe UI"/>
              </a:rPr>
              <a:t>Thank you</a:t>
            </a:r>
          </a:p>
        </p:txBody>
      </p:sp>
      <p:sp>
        <p:nvSpPr>
          <p:cNvPr id="5" name="TextBox 4"/>
          <p:cNvSpPr txBox="1"/>
          <p:nvPr/>
        </p:nvSpPr>
        <p:spPr>
          <a:xfrm>
            <a:off x="841248" y="3429000"/>
            <a:ext cx="10509199" cy="548640"/>
          </a:xfrm>
          <a:prstGeom prst="rect">
            <a:avLst/>
          </a:prstGeom>
          <a:noFill/>
        </p:spPr>
        <p:txBody>
          <a:bodyPr wrap="square" lIns="0" tIns="0" rIns="0" bIns="0" anchor="t">
            <a:spAutoFit/>
          </a:bodyPr>
          <a:lstStyle/>
          <a:p>
            <a:pPr algn="l"/>
            <a:r>
              <a:rPr sz="2400" b="1" i="0">
                <a:solidFill>
                  <a:srgbClr val="16A34A"/>
                </a:solidFill>
                <a:latin typeface="Segoe UI"/>
              </a:rPr>
              <a:t>Questions?</a:t>
            </a:r>
          </a:p>
        </p:txBody>
      </p:sp>
      <p:sp>
        <p:nvSpPr>
          <p:cNvPr id="6" name="TextBox 5"/>
          <p:cNvSpPr txBox="1"/>
          <p:nvPr/>
        </p:nvSpPr>
        <p:spPr>
          <a:xfrm>
            <a:off x="841248" y="5257800"/>
            <a:ext cx="10509199" cy="365760"/>
          </a:xfrm>
          <a:prstGeom prst="rect">
            <a:avLst/>
          </a:prstGeom>
          <a:noFill/>
        </p:spPr>
        <p:txBody>
          <a:bodyPr wrap="square" lIns="0" tIns="0" rIns="0" bIns="0" anchor="t">
            <a:spAutoFit/>
          </a:bodyPr>
          <a:lstStyle/>
          <a:p>
            <a:pPr algn="l"/>
            <a:r>
              <a:rPr sz="1300" b="1" i="0">
                <a:solidFill>
                  <a:srgbClr val="FFFFFF"/>
                </a:solidFill>
                <a:latin typeface="Segoe UI"/>
              </a:rPr>
              <a:t>CalorieTrack</a:t>
            </a:r>
            <a:r>
              <a:rPr sz="1300" b="0" i="0">
                <a:solidFill>
                  <a:srgbClr val="9CA3AF"/>
                </a:solidFill>
                <a:latin typeface="Segoe UI"/>
              </a:rPr>
              <a:t>   ·   Nutrition Tracking · Food Ordering · Complaint Verification</a:t>
            </a:r>
          </a:p>
        </p:txBody>
      </p:sp>
      <p:sp>
        <p:nvSpPr>
          <p:cNvPr id="7" name="TextBox 6"/>
          <p:cNvSpPr txBox="1"/>
          <p:nvPr/>
        </p:nvSpPr>
        <p:spPr>
          <a:xfrm>
            <a:off x="841248" y="5715000"/>
            <a:ext cx="10509199" cy="365760"/>
          </a:xfrm>
          <a:prstGeom prst="rect">
            <a:avLst/>
          </a:prstGeom>
          <a:noFill/>
        </p:spPr>
        <p:txBody>
          <a:bodyPr wrap="square" lIns="0" tIns="0" rIns="0" bIns="0" anchor="t">
            <a:spAutoFit/>
          </a:bodyPr>
          <a:lstStyle/>
          <a:p>
            <a:pPr algn="l"/>
            <a:r>
              <a:rPr sz="1200" b="0" i="0">
                <a:solidFill>
                  <a:srgbClr val="9CA3AF"/>
                </a:solidFill>
                <a:latin typeface="Segoe UI"/>
              </a:rPr>
              <a:t>Chis Denis  ·  Supervisor: Lect. PhD. Horea Bogdan Mureșan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2049</Words>
  <Application>Microsoft Office PowerPoint</Application>
  <PresentationFormat>Widescreen</PresentationFormat>
  <Paragraphs>153</Paragraphs>
  <Slides>14</Slides>
  <Notes>14</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Chis Denis</cp:lastModifiedBy>
  <cp:revision>2</cp:revision>
  <dcterms:created xsi:type="dcterms:W3CDTF">2013-01-27T09:14:16Z</dcterms:created>
  <dcterms:modified xsi:type="dcterms:W3CDTF">2026-07-01T12:37:13Z</dcterms:modified>
  <cp:category/>
</cp:coreProperties>
</file>